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RoadSoS_AI is an AI-powered real-time emergency response system for road accidents — Infinity Hacks 2026, Road Safety Track. Our mission: cut emergency response time from 6+ minutes to under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loses 1.5 lakh+ lives every year on its roads — that's someone dying every 3.5 minutes. Emergency help takes 6+ minutes on average to arrive, and half of these deaths are preventable with timely medical help. This is the gap RoadSoS_AI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tools fail at the exact moment they matter most. Victim is often unconscious and can't act. Bystanders have zero medical context. Manual SOS apps need a conscious user pressing a button. No consumer app senses the crash itself. Location data is often late or missing. And highway blackspots break tools that depend on constant connectivity.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RoadSoS_AI is an AI-powered guardian that detects, alerts, and guides — instantly and automatically, even when you can't act. It works even when the victim is unconscious, our mission is under 60 seconds response, it runs fully in the background even when the app is closed, and it works completely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accelerometer and gyroscope sensor fusion detects a real collision instantly. A 10-second countdown lets the user cancel a false alarm. If not cancelled, SOS auto-triggers with live GPS and medical profile. Alerts go out via SMS, WhatsApp, and auto-calls to emergency contacts. AI delivers first-aid guidance to bystanders. And location keeps updating live until help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independent layers so there's never one point of failure. Layer 1: automatic crash detection via sensor fusion — works even if the victim is unconscious. Layer 2: voice-activated SOS, a spoken trigger phrase, completely hands-free. Layer 3: shake-gesture SOS, a manual panic trigger for seconds-fast activation.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core features: automatic crash detection, live GPS tracking, multi-channel SMS/WhatsApp/call alerts, medical profile sharing with blood group and allergies, AI first-aid guidance, and full offline plus background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Five-layer architecture: the sensor layer streams accelerometer and gyroscope data on-device. The detection engine's ML model classifies crash vs. normal motion. The alert engine packages GPS and medical data and dispatches via SMS/WhatsApp/Call APIs. The AI guidance layer is LLM-powered for situational first-aid instructions. And offline cache and sync means nothing is lost without connectivity — it syncs the moment it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Accident Prediction and Driver Assistance are live today — sensor patterns flag risky motion and build a dataset for future risk scoring, while voice SOS, shake triggers, and AI guidance actively assist drivers. Traffic Flow Optimization is roadmap-ready: every alert already carries live location data, which is the foundation we'll build emergency-vehicle routing and smart-signal integration on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6+ minutes of manual reporting and delayed medical context. With RoadSoS_AI: under 60 seconds, automatic detection, instant multi-channel alerts. We're targeting 40 to 60 percent faster emergency response, with the potential to save thousands of lives yearly, on a fully offline-capable, background-ready design. Vision: every vehicle, every phone — a life-saving node on the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RoadSoS_AI: Harsh Parmar, Founder and Lead Developer; Kakshil Adeshara, AI and Systems Engineer; Aum Joshi, App and Backend Developer.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In the golden hour, RoadSoS_AI doesn't wait for help — it becomes the help. Repository is public at github.com/HarshParmar029/RoadSoS_AI.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F"/>
        </a:solidFill>
      </p:bgPr>
    </p:bg>
    <p:spTree>
      <p:nvGrpSpPr>
        <p:cNvPr id="1" name=""/>
        <p:cNvGrpSpPr/>
        <p:nvPr/>
      </p:nvGrpSpPr>
      <p:grpSpPr>
        <a:xfrm>
          <a:off x="0" y="0"/>
          <a:ext cx="0" cy="0"/>
          <a:chOff x="0" y="0"/>
          <a:chExt cx="0" cy="0"/>
        </a:xfrm>
      </p:grpSpPr>
      <p:sp>
        <p:nvSpPr>
          <p:cNvPr id="2" name="Shape 0"/>
          <p:cNvSpPr/>
          <p:nvPr/>
        </p:nvSpPr>
        <p:spPr>
          <a:xfrm>
            <a:off x="8961120" y="-1645920"/>
            <a:ext cx="5029200" cy="5029200"/>
          </a:xfrm>
          <a:prstGeom prst="ellipse">
            <a:avLst/>
          </a:prstGeom>
          <a:solidFill>
            <a:srgbClr val="B32330">
              <a:alpha val="22000"/>
            </a:srgbClr>
          </a:solidFill>
          <a:ln/>
        </p:spPr>
      </p:sp>
      <p:sp>
        <p:nvSpPr>
          <p:cNvPr id="3" name="Shape 1"/>
          <p:cNvSpPr/>
          <p:nvPr/>
        </p:nvSpPr>
        <p:spPr>
          <a:xfrm>
            <a:off x="-1371600" y="4389120"/>
            <a:ext cx="4114800" cy="4114800"/>
          </a:xfrm>
          <a:prstGeom prst="ellipse">
            <a:avLst/>
          </a:prstGeom>
          <a:solidFill>
            <a:srgbClr val="2F80ED">
              <a:alpha val="16000"/>
            </a:srgbClr>
          </a:solidFill>
          <a:ln/>
        </p:spPr>
      </p:sp>
      <p:sp>
        <p:nvSpPr>
          <p:cNvPr id="4" name="Text 2"/>
          <p:cNvSpPr/>
          <p:nvPr/>
        </p:nvSpPr>
        <p:spPr>
          <a:xfrm>
            <a:off x="822960" y="822960"/>
            <a:ext cx="7315200" cy="320040"/>
          </a:xfrm>
          <a:prstGeom prst="rect">
            <a:avLst/>
          </a:prstGeom>
          <a:noFill/>
          <a:ln/>
        </p:spPr>
        <p:txBody>
          <a:bodyPr wrap="square" rtlCol="0" anchor="ctr"/>
          <a:lstStyle/>
          <a:p>
            <a:pPr indent="0" marL="0">
              <a:buNone/>
            </a:pPr>
            <a:r>
              <a:rPr lang="en-US" sz="1300" b="1" spc="200" kern="0" dirty="0">
                <a:solidFill>
                  <a:srgbClr val="F4B942"/>
                </a:solidFill>
                <a:latin typeface="Calibri" pitchFamily="34" charset="0"/>
                <a:ea typeface="Calibri" pitchFamily="34" charset="-122"/>
                <a:cs typeface="Calibri" pitchFamily="34" charset="-120"/>
              </a:rPr>
              <a:t>INFINITY HACKS 2026  ·  ROAD SAFETY TRACK</a:t>
            </a:r>
            <a:endParaRPr lang="en-US" sz="1300" dirty="0"/>
          </a:p>
        </p:txBody>
      </p:sp>
      <p:sp>
        <p:nvSpPr>
          <p:cNvPr id="5" name="Text 3"/>
          <p:cNvSpPr/>
          <p:nvPr/>
        </p:nvSpPr>
        <p:spPr>
          <a:xfrm>
            <a:off x="777240" y="1371600"/>
            <a:ext cx="10515600" cy="1554480"/>
          </a:xfrm>
          <a:prstGeom prst="rect">
            <a:avLst/>
          </a:prstGeom>
          <a:noFill/>
          <a:ln/>
        </p:spPr>
        <p:txBody>
          <a:bodyPr wrap="square" rtlCol="0" anchor="ctr"/>
          <a:lstStyle/>
          <a:p>
            <a:pPr algn="l" indent="0" marL="0">
              <a:buNone/>
            </a:pPr>
            <a:r>
              <a:rPr lang="en-US" sz="6600" b="1" dirty="0">
                <a:solidFill>
                  <a:srgbClr val="FFFFFF"/>
                </a:solidFill>
                <a:latin typeface="Cambria" pitchFamily="34" charset="0"/>
                <a:ea typeface="Cambria" pitchFamily="34" charset="-122"/>
                <a:cs typeface="Cambria" pitchFamily="34" charset="-120"/>
              </a:rPr>
              <a:t>RoadSoS</a:t>
            </a:r>
            <a:pPr algn="l" indent="0" marL="0">
              <a:buNone/>
            </a:pPr>
            <a:r>
              <a:rPr lang="en-US" sz="6600" b="1" dirty="0">
                <a:solidFill>
                  <a:srgbClr val="E63946"/>
                </a:solidFill>
                <a:latin typeface="Cambria" pitchFamily="34" charset="0"/>
                <a:ea typeface="Cambria" pitchFamily="34" charset="-122"/>
                <a:cs typeface="Cambria" pitchFamily="34" charset="-120"/>
              </a:rPr>
              <a:t>_AI</a:t>
            </a:r>
            <a:endParaRPr lang="en-US" sz="6600" dirty="0"/>
          </a:p>
        </p:txBody>
      </p:sp>
      <p:sp>
        <p:nvSpPr>
          <p:cNvPr id="6" name="Text 4"/>
          <p:cNvSpPr/>
          <p:nvPr/>
        </p:nvSpPr>
        <p:spPr>
          <a:xfrm>
            <a:off x="822960" y="2788920"/>
            <a:ext cx="9875520" cy="548640"/>
          </a:xfrm>
          <a:prstGeom prst="rect">
            <a:avLst/>
          </a:prstGeom>
          <a:noFill/>
          <a:ln/>
        </p:spPr>
        <p:txBody>
          <a:bodyPr wrap="square" rtlCol="0" anchor="ctr"/>
          <a:lstStyle/>
          <a:p>
            <a:pPr indent="0" marL="0">
              <a:buNone/>
            </a:pPr>
            <a:r>
              <a:rPr lang="en-US" sz="2200" i="1" dirty="0">
                <a:solidFill>
                  <a:srgbClr val="F2F2F7"/>
                </a:solidFill>
                <a:latin typeface="Calibri" pitchFamily="34" charset="0"/>
                <a:ea typeface="Calibri" pitchFamily="34" charset="-122"/>
                <a:cs typeface="Calibri" pitchFamily="34" charset="-120"/>
              </a:rPr>
              <a:t>AI That Responds Before You Can Even Ask.</a:t>
            </a:r>
            <a:endParaRPr lang="en-US" sz="2200" dirty="0"/>
          </a:p>
        </p:txBody>
      </p:sp>
      <p:sp>
        <p:nvSpPr>
          <p:cNvPr id="7" name="Shape 5"/>
          <p:cNvSpPr/>
          <p:nvPr/>
        </p:nvSpPr>
        <p:spPr>
          <a:xfrm>
            <a:off x="822960" y="3520440"/>
            <a:ext cx="2011680" cy="0"/>
          </a:xfrm>
          <a:prstGeom prst="line">
            <a:avLst/>
          </a:prstGeom>
          <a:noFill/>
          <a:ln w="38100">
            <a:solidFill>
              <a:srgbClr val="E63946"/>
            </a:solidFill>
            <a:prstDash val="solid"/>
          </a:ln>
        </p:spPr>
      </p:sp>
      <p:sp>
        <p:nvSpPr>
          <p:cNvPr id="8" name="Text 6"/>
          <p:cNvSpPr/>
          <p:nvPr/>
        </p:nvSpPr>
        <p:spPr>
          <a:xfrm>
            <a:off x="822960" y="3749040"/>
            <a:ext cx="7863840" cy="1005840"/>
          </a:xfrm>
          <a:prstGeom prst="rect">
            <a:avLst/>
          </a:prstGeom>
          <a:noFill/>
          <a:ln/>
        </p:spPr>
        <p:txBody>
          <a:bodyPr wrap="square" rtlCol="0" anchor="ctr"/>
          <a:lstStyle/>
          <a:p>
            <a:pPr indent="0" marL="0">
              <a:lnSpc>
                <a:spcPct val="125000"/>
              </a:lnSpc>
              <a:buNone/>
            </a:pPr>
            <a:r>
              <a:rPr lang="en-US" sz="1400" dirty="0">
                <a:solidFill>
                  <a:srgbClr val="A7A9BE"/>
                </a:solidFill>
                <a:latin typeface="Calibri" pitchFamily="34" charset="0"/>
                <a:ea typeface="Calibri" pitchFamily="34" charset="-122"/>
                <a:cs typeface="Calibri" pitchFamily="34" charset="-120"/>
              </a:rPr>
              <a:t>An AI-powered real-time emergency response system that detects road accidents automatically, triggers SOS with live location, and delivers life-saving guidance — turning the golden hour into a golden minute.</a:t>
            </a:r>
            <a:endParaRPr lang="en-US" sz="1400" dirty="0"/>
          </a:p>
        </p:txBody>
      </p:sp>
      <p:sp>
        <p:nvSpPr>
          <p:cNvPr id="9" name="Shape 7"/>
          <p:cNvSpPr/>
          <p:nvPr/>
        </p:nvSpPr>
        <p:spPr>
          <a:xfrm>
            <a:off x="8915400" y="3703320"/>
            <a:ext cx="2514600" cy="1508760"/>
          </a:xfrm>
          <a:prstGeom prst="roundRect">
            <a:avLst>
              <a:gd name="adj" fmla="val 6061"/>
            </a:avLst>
          </a:prstGeom>
          <a:solidFill>
            <a:srgbClr val="1E1E33"/>
          </a:solidFill>
          <a:ln w="12700">
            <a:solidFill>
              <a:srgbClr val="E63946"/>
            </a:solidFill>
            <a:prstDash val="solid"/>
          </a:ln>
        </p:spPr>
      </p:sp>
      <p:sp>
        <p:nvSpPr>
          <p:cNvPr id="10" name="Text 8"/>
          <p:cNvSpPr/>
          <p:nvPr/>
        </p:nvSpPr>
        <p:spPr>
          <a:xfrm>
            <a:off x="8915400" y="3794760"/>
            <a:ext cx="2514600" cy="685800"/>
          </a:xfrm>
          <a:prstGeom prst="rect">
            <a:avLst/>
          </a:prstGeom>
          <a:noFill/>
          <a:ln/>
        </p:spPr>
        <p:txBody>
          <a:bodyPr wrap="square" rtlCol="0" anchor="ctr"/>
          <a:lstStyle/>
          <a:p>
            <a:pPr algn="ctr" indent="0" marL="0">
              <a:buNone/>
            </a:pPr>
            <a:r>
              <a:rPr lang="en-US" sz="3400" b="1" dirty="0">
                <a:solidFill>
                  <a:srgbClr val="E63946"/>
                </a:solidFill>
                <a:latin typeface="Cambria" pitchFamily="34" charset="0"/>
                <a:ea typeface="Cambria" pitchFamily="34" charset="-122"/>
                <a:cs typeface="Cambria" pitchFamily="34" charset="-120"/>
              </a:rPr>
              <a:t>&lt; 60</a:t>
            </a:r>
            <a:endParaRPr lang="en-US" sz="3400" dirty="0"/>
          </a:p>
        </p:txBody>
      </p:sp>
      <p:sp>
        <p:nvSpPr>
          <p:cNvPr id="11" name="Text 9"/>
          <p:cNvSpPr/>
          <p:nvPr/>
        </p:nvSpPr>
        <p:spPr>
          <a:xfrm>
            <a:off x="8915400" y="4480560"/>
            <a:ext cx="2514600" cy="548640"/>
          </a:xfrm>
          <a:prstGeom prst="rect">
            <a:avLst/>
          </a:prstGeom>
          <a:noFill/>
          <a:ln/>
        </p:spPr>
        <p:txBody>
          <a:bodyPr wrap="square" rtlCol="0" anchor="ctr"/>
          <a:lstStyle/>
          <a:p>
            <a:pPr algn="ctr" indent="0" marL="0">
              <a:buNone/>
            </a:pPr>
            <a:r>
              <a:rPr lang="en-US" sz="950" b="1" spc="100" kern="0" dirty="0">
                <a:solidFill>
                  <a:srgbClr val="A7A9BE"/>
                </a:solidFill>
                <a:latin typeface="Calibri" pitchFamily="34" charset="0"/>
                <a:ea typeface="Calibri" pitchFamily="34" charset="-122"/>
                <a:cs typeface="Calibri" pitchFamily="34" charset="-120"/>
              </a:rPr>
              <a:t>SECONDS TARGET</a:t>
            </a:r>
            <a:endParaRPr lang="en-US" sz="950" dirty="0"/>
          </a:p>
          <a:p>
            <a:pPr algn="ctr" indent="0" marL="0">
              <a:buNone/>
            </a:pPr>
            <a:r>
              <a:rPr lang="en-US" sz="950" b="1" spc="100" kern="0" dirty="0">
                <a:solidFill>
                  <a:srgbClr val="A7A9BE"/>
                </a:solidFill>
                <a:latin typeface="Calibri" pitchFamily="34" charset="0"/>
                <a:ea typeface="Calibri" pitchFamily="34" charset="-122"/>
                <a:cs typeface="Calibri" pitchFamily="34" charset="-120"/>
              </a:rPr>
              <a:t>RESPONSE TIME</a:t>
            </a:r>
            <a:endParaRPr lang="en-US" sz="950" dirty="0"/>
          </a:p>
        </p:txBody>
      </p:sp>
      <p:sp>
        <p:nvSpPr>
          <p:cNvPr id="12" name="Shape 10"/>
          <p:cNvSpPr/>
          <p:nvPr/>
        </p:nvSpPr>
        <p:spPr>
          <a:xfrm>
            <a:off x="822960" y="5989320"/>
            <a:ext cx="10515600" cy="0"/>
          </a:xfrm>
          <a:prstGeom prst="line">
            <a:avLst/>
          </a:prstGeom>
          <a:noFill/>
          <a:ln w="12700">
            <a:solidFill>
              <a:srgbClr val="33344F"/>
            </a:solidFill>
            <a:prstDash val="solid"/>
          </a:ln>
        </p:spPr>
      </p:sp>
      <p:sp>
        <p:nvSpPr>
          <p:cNvPr id="13" name="Text 11"/>
          <p:cNvSpPr/>
          <p:nvPr/>
        </p:nvSpPr>
        <p:spPr>
          <a:xfrm>
            <a:off x="822960" y="6144768"/>
            <a:ext cx="1051560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Team RoadSoS_AI   </a:t>
            </a:r>
            <a:pPr indent="0" marL="0">
              <a:buNone/>
            </a:pPr>
            <a:r>
              <a:rPr lang="en-US" sz="1300" dirty="0">
                <a:solidFill>
                  <a:srgbClr val="A7A9BE"/>
                </a:solidFill>
                <a:latin typeface="Calibri" pitchFamily="34" charset="0"/>
                <a:ea typeface="Calibri" pitchFamily="34" charset="-122"/>
                <a:cs typeface="Calibri" pitchFamily="34" charset="-120"/>
              </a:rPr>
              <a:t>Harsh Parmar  •  Kakshil Adeshara  •  Aum Joshi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41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300" b="1" spc="200" kern="0" dirty="0">
                <a:solidFill>
                  <a:srgbClr val="E63946"/>
                </a:solidFill>
                <a:latin typeface="Calibri" pitchFamily="34" charset="0"/>
                <a:ea typeface="Calibri" pitchFamily="34" charset="-122"/>
                <a:cs typeface="Calibri" pitchFamily="34" charset="-120"/>
              </a:rPr>
              <a:t>THE PROBLEM</a:t>
            </a:r>
            <a:endParaRPr lang="en-US" sz="1300" dirty="0"/>
          </a:p>
        </p:txBody>
      </p:sp>
      <p:sp>
        <p:nvSpPr>
          <p:cNvPr id="3" name="Text 1"/>
          <p:cNvSpPr/>
          <p:nvPr/>
        </p:nvSpPr>
        <p:spPr>
          <a:xfrm>
            <a:off x="640080" y="777240"/>
            <a:ext cx="10789920" cy="6858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Harsh Reality on Indian Roads</a:t>
            </a:r>
            <a:endParaRPr lang="en-US" sz="3200" dirty="0"/>
          </a:p>
        </p:txBody>
      </p:sp>
      <p:sp>
        <p:nvSpPr>
          <p:cNvPr id="4" name="Shape 2"/>
          <p:cNvSpPr/>
          <p:nvPr/>
        </p:nvSpPr>
        <p:spPr>
          <a:xfrm>
            <a:off x="640080" y="1737360"/>
            <a:ext cx="2514600" cy="3246120"/>
          </a:xfrm>
          <a:prstGeom prst="roundRect">
            <a:avLst>
              <a:gd name="adj" fmla="val 2909"/>
            </a:avLst>
          </a:prstGeom>
          <a:solidFill>
            <a:srgbClr val="1E1E33"/>
          </a:solidFill>
          <a:ln/>
        </p:spPr>
      </p:sp>
      <p:sp>
        <p:nvSpPr>
          <p:cNvPr id="5" name="Shape 3"/>
          <p:cNvSpPr/>
          <p:nvPr/>
        </p:nvSpPr>
        <p:spPr>
          <a:xfrm>
            <a:off x="1508760" y="2057400"/>
            <a:ext cx="777240" cy="777240"/>
          </a:xfrm>
          <a:prstGeom prst="ellipse">
            <a:avLst/>
          </a:prstGeom>
          <a:solidFill>
            <a:srgbClr val="B32330"/>
          </a:solidFill>
          <a:ln/>
        </p:spPr>
      </p:sp>
      <p:pic>
        <p:nvPicPr>
          <p:cNvPr id="6" name="Image 0" descr="/home/claude/roadsos_deck/icons/skull.png">    </p:cNvPr>
          <p:cNvPicPr>
            <a:picLocks noChangeAspect="1"/>
          </p:cNvPicPr>
          <p:nvPr/>
        </p:nvPicPr>
        <p:blipFill>
          <a:blip r:embed="rId1"/>
          <a:stretch>
            <a:fillRect/>
          </a:stretch>
        </p:blipFill>
        <p:spPr>
          <a:xfrm>
            <a:off x="1609801" y="2158441"/>
            <a:ext cx="575158" cy="575158"/>
          </a:xfrm>
          <a:prstGeom prst="rect">
            <a:avLst/>
          </a:prstGeom>
        </p:spPr>
      </p:pic>
      <p:sp>
        <p:nvSpPr>
          <p:cNvPr id="7" name="Text 4"/>
          <p:cNvSpPr/>
          <p:nvPr/>
        </p:nvSpPr>
        <p:spPr>
          <a:xfrm>
            <a:off x="731520" y="3063240"/>
            <a:ext cx="2331720" cy="731520"/>
          </a:xfrm>
          <a:prstGeom prst="rect">
            <a:avLst/>
          </a:prstGeom>
          <a:noFill/>
          <a:ln/>
        </p:spPr>
        <p:txBody>
          <a:bodyPr wrap="square" rtlCol="0" anchor="ctr"/>
          <a:lstStyle/>
          <a:p>
            <a:pPr algn="ctr" indent="0" marL="0">
              <a:buNone/>
            </a:pPr>
            <a:r>
              <a:rPr lang="en-US" sz="2800" b="1" dirty="0">
                <a:solidFill>
                  <a:srgbClr val="F4B942"/>
                </a:solidFill>
                <a:latin typeface="Cambria" pitchFamily="34" charset="0"/>
                <a:ea typeface="Cambria" pitchFamily="34" charset="-122"/>
                <a:cs typeface="Cambria" pitchFamily="34" charset="-120"/>
              </a:rPr>
              <a:t>1.5 Lakh+</a:t>
            </a:r>
            <a:endParaRPr lang="en-US" sz="2800" dirty="0"/>
          </a:p>
        </p:txBody>
      </p:sp>
      <p:sp>
        <p:nvSpPr>
          <p:cNvPr id="8" name="Text 5"/>
          <p:cNvSpPr/>
          <p:nvPr/>
        </p:nvSpPr>
        <p:spPr>
          <a:xfrm>
            <a:off x="822960" y="3840480"/>
            <a:ext cx="2148840" cy="1005840"/>
          </a:xfrm>
          <a:prstGeom prst="rect">
            <a:avLst/>
          </a:prstGeom>
          <a:noFill/>
          <a:ln/>
        </p:spPr>
        <p:txBody>
          <a:bodyPr wrap="square" rtlCol="0" anchor="ctr"/>
          <a:lstStyle/>
          <a:p>
            <a:pPr algn="ctr" indent="0" marL="0">
              <a:lnSpc>
                <a:spcPct val="115000"/>
              </a:lnSpc>
              <a:buNone/>
            </a:pPr>
            <a:r>
              <a:rPr lang="en-US" sz="1150" dirty="0">
                <a:solidFill>
                  <a:srgbClr val="A7A9BE"/>
                </a:solidFill>
                <a:latin typeface="Calibri" pitchFamily="34" charset="0"/>
                <a:ea typeface="Calibri" pitchFamily="34" charset="-122"/>
                <a:cs typeface="Calibri" pitchFamily="34" charset="-120"/>
              </a:rPr>
              <a:t>Lives lost on Indian roads every single year</a:t>
            </a:r>
            <a:endParaRPr lang="en-US" sz="1150" dirty="0"/>
          </a:p>
        </p:txBody>
      </p:sp>
      <p:sp>
        <p:nvSpPr>
          <p:cNvPr id="9" name="Shape 6"/>
          <p:cNvSpPr/>
          <p:nvPr/>
        </p:nvSpPr>
        <p:spPr>
          <a:xfrm>
            <a:off x="3410712" y="1737360"/>
            <a:ext cx="2514600" cy="3246120"/>
          </a:xfrm>
          <a:prstGeom prst="roundRect">
            <a:avLst>
              <a:gd name="adj" fmla="val 2909"/>
            </a:avLst>
          </a:prstGeom>
          <a:solidFill>
            <a:srgbClr val="E63946"/>
          </a:solidFill>
          <a:ln/>
        </p:spPr>
      </p:sp>
      <p:sp>
        <p:nvSpPr>
          <p:cNvPr id="10" name="Shape 7"/>
          <p:cNvSpPr/>
          <p:nvPr/>
        </p:nvSpPr>
        <p:spPr>
          <a:xfrm>
            <a:off x="4279392" y="2057400"/>
            <a:ext cx="777240" cy="777240"/>
          </a:xfrm>
          <a:prstGeom prst="ellipse">
            <a:avLst/>
          </a:prstGeom>
          <a:solidFill>
            <a:srgbClr val="000000">
              <a:alpha val="30000"/>
            </a:srgbClr>
          </a:solidFill>
          <a:ln/>
        </p:spPr>
      </p:sp>
      <p:pic>
        <p:nvPicPr>
          <p:cNvPr id="11" name="Image 1" descr="/home/claude/roadsos_deck/icons/clock.png">    </p:cNvPr>
          <p:cNvPicPr>
            <a:picLocks noChangeAspect="1"/>
          </p:cNvPicPr>
          <p:nvPr/>
        </p:nvPicPr>
        <p:blipFill>
          <a:blip r:embed="rId2"/>
          <a:stretch>
            <a:fillRect/>
          </a:stretch>
        </p:blipFill>
        <p:spPr>
          <a:xfrm>
            <a:off x="4380433" y="2158441"/>
            <a:ext cx="575158" cy="575158"/>
          </a:xfrm>
          <a:prstGeom prst="rect">
            <a:avLst/>
          </a:prstGeom>
        </p:spPr>
      </p:pic>
      <p:sp>
        <p:nvSpPr>
          <p:cNvPr id="12" name="Text 8"/>
          <p:cNvSpPr/>
          <p:nvPr/>
        </p:nvSpPr>
        <p:spPr>
          <a:xfrm>
            <a:off x="3502152" y="3063240"/>
            <a:ext cx="2331720" cy="73152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3.5 Min</a:t>
            </a:r>
            <a:endParaRPr lang="en-US" sz="2800" dirty="0"/>
          </a:p>
        </p:txBody>
      </p:sp>
      <p:sp>
        <p:nvSpPr>
          <p:cNvPr id="13" name="Text 9"/>
          <p:cNvSpPr/>
          <p:nvPr/>
        </p:nvSpPr>
        <p:spPr>
          <a:xfrm>
            <a:off x="3593592" y="3840480"/>
            <a:ext cx="2148840" cy="1005840"/>
          </a:xfrm>
          <a:prstGeom prst="rect">
            <a:avLst/>
          </a:prstGeom>
          <a:noFill/>
          <a:ln/>
        </p:spPr>
        <p:txBody>
          <a:bodyPr wrap="square" rtlCol="0" anchor="ctr"/>
          <a:lstStyle/>
          <a:p>
            <a:pPr algn="ctr" indent="0" marL="0">
              <a:lnSpc>
                <a:spcPct val="115000"/>
              </a:lnSpc>
              <a:buNone/>
            </a:pPr>
            <a:r>
              <a:rPr lang="en-US" sz="1150" dirty="0">
                <a:solidFill>
                  <a:srgbClr val="F2F2F7"/>
                </a:solidFill>
                <a:latin typeface="Calibri" pitchFamily="34" charset="0"/>
                <a:ea typeface="Calibri" pitchFamily="34" charset="-122"/>
                <a:cs typeface="Calibri" pitchFamily="34" charset="-120"/>
              </a:rPr>
              <a:t>A life is lost on Indian roads every 3.5 minutes</a:t>
            </a:r>
            <a:endParaRPr lang="en-US" sz="1150" dirty="0"/>
          </a:p>
        </p:txBody>
      </p:sp>
      <p:sp>
        <p:nvSpPr>
          <p:cNvPr id="14" name="Shape 10"/>
          <p:cNvSpPr/>
          <p:nvPr/>
        </p:nvSpPr>
        <p:spPr>
          <a:xfrm>
            <a:off x="6181344" y="1737360"/>
            <a:ext cx="2514600" cy="3246120"/>
          </a:xfrm>
          <a:prstGeom prst="roundRect">
            <a:avLst>
              <a:gd name="adj" fmla="val 2909"/>
            </a:avLst>
          </a:prstGeom>
          <a:solidFill>
            <a:srgbClr val="1E1E33"/>
          </a:solidFill>
          <a:ln/>
        </p:spPr>
      </p:sp>
      <p:sp>
        <p:nvSpPr>
          <p:cNvPr id="15" name="Shape 11"/>
          <p:cNvSpPr/>
          <p:nvPr/>
        </p:nvSpPr>
        <p:spPr>
          <a:xfrm>
            <a:off x="7050024" y="2057400"/>
            <a:ext cx="777240" cy="777240"/>
          </a:xfrm>
          <a:prstGeom prst="ellipse">
            <a:avLst/>
          </a:prstGeom>
          <a:solidFill>
            <a:srgbClr val="B32330"/>
          </a:solidFill>
          <a:ln/>
        </p:spPr>
      </p:sp>
      <p:pic>
        <p:nvPicPr>
          <p:cNvPr id="16" name="Image 2" descr="/home/claude/roadsos_deck/icons/alert_triangle.png">    </p:cNvPr>
          <p:cNvPicPr>
            <a:picLocks noChangeAspect="1"/>
          </p:cNvPicPr>
          <p:nvPr/>
        </p:nvPicPr>
        <p:blipFill>
          <a:blip r:embed="rId3"/>
          <a:stretch>
            <a:fillRect/>
          </a:stretch>
        </p:blipFill>
        <p:spPr>
          <a:xfrm>
            <a:off x="7151065" y="2158441"/>
            <a:ext cx="575158" cy="575158"/>
          </a:xfrm>
          <a:prstGeom prst="rect">
            <a:avLst/>
          </a:prstGeom>
        </p:spPr>
      </p:pic>
      <p:sp>
        <p:nvSpPr>
          <p:cNvPr id="17" name="Text 12"/>
          <p:cNvSpPr/>
          <p:nvPr/>
        </p:nvSpPr>
        <p:spPr>
          <a:xfrm>
            <a:off x="6272784" y="3063240"/>
            <a:ext cx="2331720" cy="731520"/>
          </a:xfrm>
          <a:prstGeom prst="rect">
            <a:avLst/>
          </a:prstGeom>
          <a:noFill/>
          <a:ln/>
        </p:spPr>
        <p:txBody>
          <a:bodyPr wrap="square" rtlCol="0" anchor="ctr"/>
          <a:lstStyle/>
          <a:p>
            <a:pPr algn="ctr" indent="0" marL="0">
              <a:buNone/>
            </a:pPr>
            <a:r>
              <a:rPr lang="en-US" sz="2800" b="1" dirty="0">
                <a:solidFill>
                  <a:srgbClr val="F4B942"/>
                </a:solidFill>
                <a:latin typeface="Cambria" pitchFamily="34" charset="0"/>
                <a:ea typeface="Cambria" pitchFamily="34" charset="-122"/>
                <a:cs typeface="Cambria" pitchFamily="34" charset="-120"/>
              </a:rPr>
              <a:t>6+ Min</a:t>
            </a:r>
            <a:endParaRPr lang="en-US" sz="2800" dirty="0"/>
          </a:p>
        </p:txBody>
      </p:sp>
      <p:sp>
        <p:nvSpPr>
          <p:cNvPr id="18" name="Text 13"/>
          <p:cNvSpPr/>
          <p:nvPr/>
        </p:nvSpPr>
        <p:spPr>
          <a:xfrm>
            <a:off x="6364224" y="3840480"/>
            <a:ext cx="2148840" cy="1005840"/>
          </a:xfrm>
          <a:prstGeom prst="rect">
            <a:avLst/>
          </a:prstGeom>
          <a:noFill/>
          <a:ln/>
        </p:spPr>
        <p:txBody>
          <a:bodyPr wrap="square" rtlCol="0" anchor="ctr"/>
          <a:lstStyle/>
          <a:p>
            <a:pPr algn="ctr" indent="0" marL="0">
              <a:lnSpc>
                <a:spcPct val="115000"/>
              </a:lnSpc>
              <a:buNone/>
            </a:pPr>
            <a:r>
              <a:rPr lang="en-US" sz="1150" dirty="0">
                <a:solidFill>
                  <a:srgbClr val="A7A9BE"/>
                </a:solidFill>
                <a:latin typeface="Calibri" pitchFamily="34" charset="0"/>
                <a:ea typeface="Calibri" pitchFamily="34" charset="-122"/>
                <a:cs typeface="Calibri" pitchFamily="34" charset="-120"/>
              </a:rPr>
              <a:t>Average time emergency help takes to arrive</a:t>
            </a:r>
            <a:endParaRPr lang="en-US" sz="1150" dirty="0"/>
          </a:p>
        </p:txBody>
      </p:sp>
      <p:sp>
        <p:nvSpPr>
          <p:cNvPr id="19" name="Shape 14"/>
          <p:cNvSpPr/>
          <p:nvPr/>
        </p:nvSpPr>
        <p:spPr>
          <a:xfrm>
            <a:off x="8951976" y="1737360"/>
            <a:ext cx="2514600" cy="3246120"/>
          </a:xfrm>
          <a:prstGeom prst="roundRect">
            <a:avLst>
              <a:gd name="adj" fmla="val 2909"/>
            </a:avLst>
          </a:prstGeom>
          <a:solidFill>
            <a:srgbClr val="1E1E33"/>
          </a:solidFill>
          <a:ln/>
        </p:spPr>
      </p:sp>
      <p:sp>
        <p:nvSpPr>
          <p:cNvPr id="20" name="Shape 15"/>
          <p:cNvSpPr/>
          <p:nvPr/>
        </p:nvSpPr>
        <p:spPr>
          <a:xfrm>
            <a:off x="9820656" y="2057400"/>
            <a:ext cx="777240" cy="777240"/>
          </a:xfrm>
          <a:prstGeom prst="ellipse">
            <a:avLst/>
          </a:prstGeom>
          <a:solidFill>
            <a:srgbClr val="B32330"/>
          </a:solidFill>
          <a:ln/>
        </p:spPr>
      </p:sp>
      <p:pic>
        <p:nvPicPr>
          <p:cNvPr id="21" name="Image 3" descr="/home/claude/roadsos_deck/icons/heart.png">    </p:cNvPr>
          <p:cNvPicPr>
            <a:picLocks noChangeAspect="1"/>
          </p:cNvPicPr>
          <p:nvPr/>
        </p:nvPicPr>
        <p:blipFill>
          <a:blip r:embed="rId4"/>
          <a:stretch>
            <a:fillRect/>
          </a:stretch>
        </p:blipFill>
        <p:spPr>
          <a:xfrm>
            <a:off x="9921697" y="2158441"/>
            <a:ext cx="575158" cy="575158"/>
          </a:xfrm>
          <a:prstGeom prst="rect">
            <a:avLst/>
          </a:prstGeom>
        </p:spPr>
      </p:pic>
      <p:sp>
        <p:nvSpPr>
          <p:cNvPr id="22" name="Text 16"/>
          <p:cNvSpPr/>
          <p:nvPr/>
        </p:nvSpPr>
        <p:spPr>
          <a:xfrm>
            <a:off x="9043416" y="3063240"/>
            <a:ext cx="2331720" cy="731520"/>
          </a:xfrm>
          <a:prstGeom prst="rect">
            <a:avLst/>
          </a:prstGeom>
          <a:noFill/>
          <a:ln/>
        </p:spPr>
        <p:txBody>
          <a:bodyPr wrap="square" rtlCol="0" anchor="ctr"/>
          <a:lstStyle/>
          <a:p>
            <a:pPr algn="ctr" indent="0" marL="0">
              <a:buNone/>
            </a:pPr>
            <a:r>
              <a:rPr lang="en-US" sz="2800" b="1" dirty="0">
                <a:solidFill>
                  <a:srgbClr val="F4B942"/>
                </a:solidFill>
                <a:latin typeface="Cambria" pitchFamily="34" charset="0"/>
                <a:ea typeface="Cambria" pitchFamily="34" charset="-122"/>
                <a:cs typeface="Cambria" pitchFamily="34" charset="-120"/>
              </a:rPr>
              <a:t>50%</a:t>
            </a:r>
            <a:endParaRPr lang="en-US" sz="2800" dirty="0"/>
          </a:p>
        </p:txBody>
      </p:sp>
      <p:sp>
        <p:nvSpPr>
          <p:cNvPr id="23" name="Text 17"/>
          <p:cNvSpPr/>
          <p:nvPr/>
        </p:nvSpPr>
        <p:spPr>
          <a:xfrm>
            <a:off x="9134856" y="3840480"/>
            <a:ext cx="2148840" cy="1005840"/>
          </a:xfrm>
          <a:prstGeom prst="rect">
            <a:avLst/>
          </a:prstGeom>
          <a:noFill/>
          <a:ln/>
        </p:spPr>
        <p:txBody>
          <a:bodyPr wrap="square" rtlCol="0" anchor="ctr"/>
          <a:lstStyle/>
          <a:p>
            <a:pPr algn="ctr" indent="0" marL="0">
              <a:lnSpc>
                <a:spcPct val="115000"/>
              </a:lnSpc>
              <a:buNone/>
            </a:pPr>
            <a:r>
              <a:rPr lang="en-US" sz="1150" dirty="0">
                <a:solidFill>
                  <a:srgbClr val="A7A9BE"/>
                </a:solidFill>
                <a:latin typeface="Calibri" pitchFamily="34" charset="0"/>
                <a:ea typeface="Calibri" pitchFamily="34" charset="-122"/>
                <a:cs typeface="Calibri" pitchFamily="34" charset="-120"/>
              </a:rPr>
              <a:t>Of these deaths are preventable with timely medical help</a:t>
            </a:r>
            <a:endParaRPr lang="en-US" sz="1150" dirty="0"/>
          </a:p>
        </p:txBody>
      </p:sp>
      <p:sp>
        <p:nvSpPr>
          <p:cNvPr id="24" name="Text 18"/>
          <p:cNvSpPr/>
          <p:nvPr/>
        </p:nvSpPr>
        <p:spPr>
          <a:xfrm>
            <a:off x="640080" y="5212080"/>
            <a:ext cx="10789920" cy="548640"/>
          </a:xfrm>
          <a:prstGeom prst="rect">
            <a:avLst/>
          </a:prstGeom>
          <a:noFill/>
          <a:ln/>
        </p:spPr>
        <p:txBody>
          <a:bodyPr wrap="square" rtlCol="0" anchor="ctr"/>
          <a:lstStyle/>
          <a:p>
            <a:pPr algn="ctr" indent="0" marL="0">
              <a:buNone/>
            </a:pPr>
            <a:r>
              <a:rPr lang="en-US" sz="1500" i="1" dirty="0">
                <a:solidFill>
                  <a:srgbClr val="A7A9BE"/>
                </a:solidFill>
                <a:latin typeface="Calibri" pitchFamily="34" charset="0"/>
                <a:ea typeface="Calibri" pitchFamily="34" charset="-122"/>
                <a:cs typeface="Calibri" pitchFamily="34" charset="-120"/>
              </a:rPr>
              <a:t>Behind every statistic is a family that needed help to arrive faster.</a:t>
            </a:r>
            <a:endParaRPr lang="en-US" sz="1500" dirty="0"/>
          </a:p>
        </p:txBody>
      </p:sp>
      <p:sp>
        <p:nvSpPr>
          <p:cNvPr id="25" name="Text 19"/>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B9B9C4"/>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7"/>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300" b="1" spc="200" kern="0" dirty="0">
                <a:solidFill>
                  <a:srgbClr val="B32330"/>
                </a:solidFill>
                <a:latin typeface="Calibri" pitchFamily="34" charset="0"/>
                <a:ea typeface="Calibri" pitchFamily="34" charset="-122"/>
                <a:cs typeface="Calibri" pitchFamily="34" charset="-120"/>
              </a:rPr>
              <a:t>THE GAP</a:t>
            </a:r>
            <a:endParaRPr lang="en-US" sz="1300" dirty="0"/>
          </a:p>
        </p:txBody>
      </p:sp>
      <p:sp>
        <p:nvSpPr>
          <p:cNvPr id="3" name="Text 1"/>
          <p:cNvSpPr/>
          <p:nvPr/>
        </p:nvSpPr>
        <p:spPr>
          <a:xfrm>
            <a:off x="640080" y="777240"/>
            <a:ext cx="10789920" cy="685800"/>
          </a:xfrm>
          <a:prstGeom prst="rect">
            <a:avLst/>
          </a:prstGeom>
          <a:noFill/>
          <a:ln/>
        </p:spPr>
        <p:txBody>
          <a:bodyPr wrap="square" rtlCol="0" anchor="ctr"/>
          <a:lstStyle/>
          <a:p>
            <a:pPr indent="0" marL="0">
              <a:buNone/>
            </a:pPr>
            <a:r>
              <a:rPr lang="en-US" sz="3200" b="1" dirty="0">
                <a:solidFill>
                  <a:srgbClr val="1B1B2E"/>
                </a:solidFill>
                <a:latin typeface="Cambria" pitchFamily="34" charset="0"/>
                <a:ea typeface="Cambria" pitchFamily="34" charset="-122"/>
                <a:cs typeface="Cambria" pitchFamily="34" charset="-120"/>
              </a:rPr>
              <a:t>Why Current Systems Fail</a:t>
            </a:r>
            <a:endParaRPr lang="en-US" sz="3200" dirty="0"/>
          </a:p>
        </p:txBody>
      </p:sp>
      <p:sp>
        <p:nvSpPr>
          <p:cNvPr id="4" name="Shape 2"/>
          <p:cNvSpPr/>
          <p:nvPr/>
        </p:nvSpPr>
        <p:spPr>
          <a:xfrm>
            <a:off x="640080" y="1783080"/>
            <a:ext cx="5166360" cy="1417320"/>
          </a:xfrm>
          <a:prstGeom prst="roundRect">
            <a:avLst>
              <a:gd name="adj" fmla="val 4516"/>
            </a:avLst>
          </a:prstGeom>
          <a:solidFill>
            <a:srgbClr val="FFFFFF"/>
          </a:solidFill>
          <a:ln w="12700">
            <a:solidFill>
              <a:srgbClr val="E4E4EE"/>
            </a:solidFill>
            <a:prstDash val="solid"/>
          </a:ln>
        </p:spPr>
      </p:sp>
      <p:sp>
        <p:nvSpPr>
          <p:cNvPr id="5" name="Shape 3"/>
          <p:cNvSpPr/>
          <p:nvPr/>
        </p:nvSpPr>
        <p:spPr>
          <a:xfrm>
            <a:off x="841248" y="2208276"/>
            <a:ext cx="566928" cy="566928"/>
          </a:xfrm>
          <a:prstGeom prst="ellipse">
            <a:avLst/>
          </a:prstGeom>
          <a:solidFill>
            <a:srgbClr val="B32330"/>
          </a:solidFill>
          <a:ln/>
        </p:spPr>
      </p:sp>
      <p:pic>
        <p:nvPicPr>
          <p:cNvPr id="6" name="Image 0" descr="/home/claude/roadsos_deck/icons/phone_off.png">    </p:cNvPr>
          <p:cNvPicPr>
            <a:picLocks noChangeAspect="1"/>
          </p:cNvPicPr>
          <p:nvPr/>
        </p:nvPicPr>
        <p:blipFill>
          <a:blip r:embed="rId1"/>
          <a:stretch>
            <a:fillRect/>
          </a:stretch>
        </p:blipFill>
        <p:spPr>
          <a:xfrm>
            <a:off x="914949" y="2281977"/>
            <a:ext cx="419527" cy="419527"/>
          </a:xfrm>
          <a:prstGeom prst="rect">
            <a:avLst/>
          </a:prstGeom>
        </p:spPr>
      </p:pic>
      <p:sp>
        <p:nvSpPr>
          <p:cNvPr id="7" name="Text 4"/>
          <p:cNvSpPr/>
          <p:nvPr/>
        </p:nvSpPr>
        <p:spPr>
          <a:xfrm>
            <a:off x="1600200" y="1929384"/>
            <a:ext cx="4023360" cy="457200"/>
          </a:xfrm>
          <a:prstGeom prst="rect">
            <a:avLst/>
          </a:prstGeom>
          <a:noFill/>
          <a:ln/>
        </p:spPr>
        <p:txBody>
          <a:bodyPr wrap="square" rtlCol="0" anchor="ctr"/>
          <a:lstStyle/>
          <a:p>
            <a:pPr indent="0" marL="0">
              <a:buNone/>
            </a:pPr>
            <a:r>
              <a:rPr lang="en-US" sz="1400" b="1" dirty="0">
                <a:solidFill>
                  <a:srgbClr val="1B1B2E"/>
                </a:solidFill>
                <a:latin typeface="Calibri" pitchFamily="34" charset="0"/>
                <a:ea typeface="Calibri" pitchFamily="34" charset="-122"/>
                <a:cs typeface="Calibri" pitchFamily="34" charset="-120"/>
              </a:rPr>
              <a:t>Victim is often unconscious</a:t>
            </a:r>
            <a:endParaRPr lang="en-US" sz="1400" dirty="0"/>
          </a:p>
        </p:txBody>
      </p:sp>
      <p:sp>
        <p:nvSpPr>
          <p:cNvPr id="8" name="Text 5"/>
          <p:cNvSpPr/>
          <p:nvPr/>
        </p:nvSpPr>
        <p:spPr>
          <a:xfrm>
            <a:off x="1600200" y="2350008"/>
            <a:ext cx="4023360" cy="731520"/>
          </a:xfrm>
          <a:prstGeom prst="rect">
            <a:avLst/>
          </a:prstGeom>
          <a:noFill/>
          <a:ln/>
        </p:spPr>
        <p:txBody>
          <a:bodyPr wrap="square" rtlCol="0" anchor="ctr"/>
          <a:lstStyle/>
          <a:p>
            <a:pPr indent="0" marL="0">
              <a:lnSpc>
                <a:spcPct val="115000"/>
              </a:lnSpc>
              <a:buNone/>
            </a:pPr>
            <a:r>
              <a:rPr lang="en-US" sz="1050" dirty="0">
                <a:solidFill>
                  <a:srgbClr val="55566B"/>
                </a:solidFill>
                <a:latin typeface="Calibri" pitchFamily="34" charset="0"/>
                <a:ea typeface="Calibri" pitchFamily="34" charset="-122"/>
                <a:cs typeface="Calibri" pitchFamily="34" charset="-120"/>
              </a:rPr>
              <a:t>Can't call for help or unlock the phone</a:t>
            </a:r>
            <a:endParaRPr lang="en-US" sz="1050" dirty="0"/>
          </a:p>
        </p:txBody>
      </p:sp>
      <p:sp>
        <p:nvSpPr>
          <p:cNvPr id="9" name="Shape 6"/>
          <p:cNvSpPr/>
          <p:nvPr/>
        </p:nvSpPr>
        <p:spPr>
          <a:xfrm>
            <a:off x="6263640" y="1783080"/>
            <a:ext cx="5166360" cy="1417320"/>
          </a:xfrm>
          <a:prstGeom prst="roundRect">
            <a:avLst>
              <a:gd name="adj" fmla="val 4516"/>
            </a:avLst>
          </a:prstGeom>
          <a:solidFill>
            <a:srgbClr val="FFFFFF"/>
          </a:solidFill>
          <a:ln w="12700">
            <a:solidFill>
              <a:srgbClr val="E4E4EE"/>
            </a:solidFill>
            <a:prstDash val="solid"/>
          </a:ln>
        </p:spPr>
      </p:sp>
      <p:sp>
        <p:nvSpPr>
          <p:cNvPr id="10" name="Shape 7"/>
          <p:cNvSpPr/>
          <p:nvPr/>
        </p:nvSpPr>
        <p:spPr>
          <a:xfrm>
            <a:off x="6464808" y="2208276"/>
            <a:ext cx="566928" cy="566928"/>
          </a:xfrm>
          <a:prstGeom prst="ellipse">
            <a:avLst/>
          </a:prstGeom>
          <a:solidFill>
            <a:srgbClr val="B32330"/>
          </a:solidFill>
          <a:ln/>
        </p:spPr>
      </p:sp>
      <p:pic>
        <p:nvPicPr>
          <p:cNvPr id="11" name="Image 1" descr="/home/claude/roadsos_deck/icons/heart.png">    </p:cNvPr>
          <p:cNvPicPr>
            <a:picLocks noChangeAspect="1"/>
          </p:cNvPicPr>
          <p:nvPr/>
        </p:nvPicPr>
        <p:blipFill>
          <a:blip r:embed="rId2"/>
          <a:stretch>
            <a:fillRect/>
          </a:stretch>
        </p:blipFill>
        <p:spPr>
          <a:xfrm>
            <a:off x="6538509" y="2281977"/>
            <a:ext cx="419527" cy="419527"/>
          </a:xfrm>
          <a:prstGeom prst="rect">
            <a:avLst/>
          </a:prstGeom>
        </p:spPr>
      </p:pic>
      <p:sp>
        <p:nvSpPr>
          <p:cNvPr id="12" name="Text 8"/>
          <p:cNvSpPr/>
          <p:nvPr/>
        </p:nvSpPr>
        <p:spPr>
          <a:xfrm>
            <a:off x="7223760" y="1929384"/>
            <a:ext cx="4023360" cy="457200"/>
          </a:xfrm>
          <a:prstGeom prst="rect">
            <a:avLst/>
          </a:prstGeom>
          <a:noFill/>
          <a:ln/>
        </p:spPr>
        <p:txBody>
          <a:bodyPr wrap="square" rtlCol="0" anchor="ctr"/>
          <a:lstStyle/>
          <a:p>
            <a:pPr indent="0" marL="0">
              <a:buNone/>
            </a:pPr>
            <a:r>
              <a:rPr lang="en-US" sz="1400" b="1" dirty="0">
                <a:solidFill>
                  <a:srgbClr val="1B1B2E"/>
                </a:solidFill>
                <a:latin typeface="Calibri" pitchFamily="34" charset="0"/>
                <a:ea typeface="Calibri" pitchFamily="34" charset="-122"/>
                <a:cs typeface="Calibri" pitchFamily="34" charset="-120"/>
              </a:rPr>
              <a:t>No medical context for bystanders</a:t>
            </a:r>
            <a:endParaRPr lang="en-US" sz="1400" dirty="0"/>
          </a:p>
        </p:txBody>
      </p:sp>
      <p:sp>
        <p:nvSpPr>
          <p:cNvPr id="13" name="Text 9"/>
          <p:cNvSpPr/>
          <p:nvPr/>
        </p:nvSpPr>
        <p:spPr>
          <a:xfrm>
            <a:off x="7223760" y="2350008"/>
            <a:ext cx="4023360" cy="731520"/>
          </a:xfrm>
          <a:prstGeom prst="rect">
            <a:avLst/>
          </a:prstGeom>
          <a:noFill/>
          <a:ln/>
        </p:spPr>
        <p:txBody>
          <a:bodyPr wrap="square" rtlCol="0" anchor="ctr"/>
          <a:lstStyle/>
          <a:p>
            <a:pPr indent="0" marL="0">
              <a:lnSpc>
                <a:spcPct val="115000"/>
              </a:lnSpc>
              <a:buNone/>
            </a:pPr>
            <a:r>
              <a:rPr lang="en-US" sz="1050" dirty="0">
                <a:solidFill>
                  <a:srgbClr val="55566B"/>
                </a:solidFill>
                <a:latin typeface="Calibri" pitchFamily="34" charset="0"/>
                <a:ea typeface="Calibri" pitchFamily="34" charset="-122"/>
                <a:cs typeface="Calibri" pitchFamily="34" charset="-120"/>
              </a:rPr>
              <a:t>Blood group &amp; allergies unknown to responders</a:t>
            </a:r>
            <a:endParaRPr lang="en-US" sz="1050" dirty="0"/>
          </a:p>
        </p:txBody>
      </p:sp>
      <p:sp>
        <p:nvSpPr>
          <p:cNvPr id="14" name="Shape 10"/>
          <p:cNvSpPr/>
          <p:nvPr/>
        </p:nvSpPr>
        <p:spPr>
          <a:xfrm>
            <a:off x="640080" y="3429000"/>
            <a:ext cx="5166360" cy="1417320"/>
          </a:xfrm>
          <a:prstGeom prst="roundRect">
            <a:avLst>
              <a:gd name="adj" fmla="val 4516"/>
            </a:avLst>
          </a:prstGeom>
          <a:solidFill>
            <a:srgbClr val="FFFFFF"/>
          </a:solidFill>
          <a:ln w="12700">
            <a:solidFill>
              <a:srgbClr val="E4E4EE"/>
            </a:solidFill>
            <a:prstDash val="solid"/>
          </a:ln>
        </p:spPr>
      </p:sp>
      <p:sp>
        <p:nvSpPr>
          <p:cNvPr id="15" name="Shape 11"/>
          <p:cNvSpPr/>
          <p:nvPr/>
        </p:nvSpPr>
        <p:spPr>
          <a:xfrm>
            <a:off x="841248" y="3854196"/>
            <a:ext cx="566928" cy="566928"/>
          </a:xfrm>
          <a:prstGeom prst="ellipse">
            <a:avLst/>
          </a:prstGeom>
          <a:solidFill>
            <a:srgbClr val="B32330"/>
          </a:solidFill>
          <a:ln/>
        </p:spPr>
      </p:sp>
      <p:pic>
        <p:nvPicPr>
          <p:cNvPr id="16" name="Image 2" descr="/home/claude/roadsos_deck/icons/smartphone.png">    </p:cNvPr>
          <p:cNvPicPr>
            <a:picLocks noChangeAspect="1"/>
          </p:cNvPicPr>
          <p:nvPr/>
        </p:nvPicPr>
        <p:blipFill>
          <a:blip r:embed="rId3"/>
          <a:stretch>
            <a:fillRect/>
          </a:stretch>
        </p:blipFill>
        <p:spPr>
          <a:xfrm>
            <a:off x="914949" y="3927897"/>
            <a:ext cx="419527" cy="419527"/>
          </a:xfrm>
          <a:prstGeom prst="rect">
            <a:avLst/>
          </a:prstGeom>
        </p:spPr>
      </p:pic>
      <p:sp>
        <p:nvSpPr>
          <p:cNvPr id="17" name="Text 12"/>
          <p:cNvSpPr/>
          <p:nvPr/>
        </p:nvSpPr>
        <p:spPr>
          <a:xfrm>
            <a:off x="1600200" y="3575304"/>
            <a:ext cx="4023360" cy="457200"/>
          </a:xfrm>
          <a:prstGeom prst="rect">
            <a:avLst/>
          </a:prstGeom>
          <a:noFill/>
          <a:ln/>
        </p:spPr>
        <p:txBody>
          <a:bodyPr wrap="square" rtlCol="0" anchor="ctr"/>
          <a:lstStyle/>
          <a:p>
            <a:pPr indent="0" marL="0">
              <a:buNone/>
            </a:pPr>
            <a:r>
              <a:rPr lang="en-US" sz="1400" b="1" dirty="0">
                <a:solidFill>
                  <a:srgbClr val="1B1B2E"/>
                </a:solidFill>
                <a:latin typeface="Calibri" pitchFamily="34" charset="0"/>
                <a:ea typeface="Calibri" pitchFamily="34" charset="-122"/>
                <a:cs typeface="Calibri" pitchFamily="34" charset="-120"/>
              </a:rPr>
              <a:t>Manual SOS needs a conscious user</a:t>
            </a:r>
            <a:endParaRPr lang="en-US" sz="1400" dirty="0"/>
          </a:p>
        </p:txBody>
      </p:sp>
      <p:sp>
        <p:nvSpPr>
          <p:cNvPr id="18" name="Text 13"/>
          <p:cNvSpPr/>
          <p:nvPr/>
        </p:nvSpPr>
        <p:spPr>
          <a:xfrm>
            <a:off x="1600200" y="3995928"/>
            <a:ext cx="4023360" cy="731520"/>
          </a:xfrm>
          <a:prstGeom prst="rect">
            <a:avLst/>
          </a:prstGeom>
          <a:noFill/>
          <a:ln/>
        </p:spPr>
        <p:txBody>
          <a:bodyPr wrap="square" rtlCol="0" anchor="ctr"/>
          <a:lstStyle/>
          <a:p>
            <a:pPr indent="0" marL="0">
              <a:lnSpc>
                <a:spcPct val="115000"/>
              </a:lnSpc>
              <a:buNone/>
            </a:pPr>
            <a:r>
              <a:rPr lang="en-US" sz="1050" dirty="0">
                <a:solidFill>
                  <a:srgbClr val="55566B"/>
                </a:solidFill>
                <a:latin typeface="Calibri" pitchFamily="34" charset="0"/>
                <a:ea typeface="Calibri" pitchFamily="34" charset="-122"/>
                <a:cs typeface="Calibri" pitchFamily="34" charset="-120"/>
              </a:rPr>
              <a:t>Needs a button press a victim can't make</a:t>
            </a:r>
            <a:endParaRPr lang="en-US" sz="1050" dirty="0"/>
          </a:p>
        </p:txBody>
      </p:sp>
      <p:sp>
        <p:nvSpPr>
          <p:cNvPr id="19" name="Shape 14"/>
          <p:cNvSpPr/>
          <p:nvPr/>
        </p:nvSpPr>
        <p:spPr>
          <a:xfrm>
            <a:off x="6263640" y="3429000"/>
            <a:ext cx="5166360" cy="1417320"/>
          </a:xfrm>
          <a:prstGeom prst="roundRect">
            <a:avLst>
              <a:gd name="adj" fmla="val 4516"/>
            </a:avLst>
          </a:prstGeom>
          <a:solidFill>
            <a:srgbClr val="FFFFFF"/>
          </a:solidFill>
          <a:ln w="12700">
            <a:solidFill>
              <a:srgbClr val="E4E4EE"/>
            </a:solidFill>
            <a:prstDash val="solid"/>
          </a:ln>
        </p:spPr>
      </p:sp>
      <p:sp>
        <p:nvSpPr>
          <p:cNvPr id="20" name="Shape 15"/>
          <p:cNvSpPr/>
          <p:nvPr/>
        </p:nvSpPr>
        <p:spPr>
          <a:xfrm>
            <a:off x="6464808" y="3854196"/>
            <a:ext cx="566928" cy="566928"/>
          </a:xfrm>
          <a:prstGeom prst="ellipse">
            <a:avLst/>
          </a:prstGeom>
          <a:solidFill>
            <a:srgbClr val="B32330"/>
          </a:solidFill>
          <a:ln/>
        </p:spPr>
      </p:sp>
      <p:pic>
        <p:nvPicPr>
          <p:cNvPr id="21" name="Image 3" descr="/home/claude/roadsos_deck/icons/alert_triangle.png">    </p:cNvPr>
          <p:cNvPicPr>
            <a:picLocks noChangeAspect="1"/>
          </p:cNvPicPr>
          <p:nvPr/>
        </p:nvPicPr>
        <p:blipFill>
          <a:blip r:embed="rId4"/>
          <a:stretch>
            <a:fillRect/>
          </a:stretch>
        </p:blipFill>
        <p:spPr>
          <a:xfrm>
            <a:off x="6538509" y="3927897"/>
            <a:ext cx="419527" cy="419527"/>
          </a:xfrm>
          <a:prstGeom prst="rect">
            <a:avLst/>
          </a:prstGeom>
        </p:spPr>
      </p:pic>
      <p:sp>
        <p:nvSpPr>
          <p:cNvPr id="22" name="Text 16"/>
          <p:cNvSpPr/>
          <p:nvPr/>
        </p:nvSpPr>
        <p:spPr>
          <a:xfrm>
            <a:off x="7223760" y="3575304"/>
            <a:ext cx="4023360" cy="457200"/>
          </a:xfrm>
          <a:prstGeom prst="rect">
            <a:avLst/>
          </a:prstGeom>
          <a:noFill/>
          <a:ln/>
        </p:spPr>
        <p:txBody>
          <a:bodyPr wrap="square" rtlCol="0" anchor="ctr"/>
          <a:lstStyle/>
          <a:p>
            <a:pPr indent="0" marL="0">
              <a:buNone/>
            </a:pPr>
            <a:r>
              <a:rPr lang="en-US" sz="1400" b="1" dirty="0">
                <a:solidFill>
                  <a:srgbClr val="1B1B2E"/>
                </a:solidFill>
                <a:latin typeface="Calibri" pitchFamily="34" charset="0"/>
                <a:ea typeface="Calibri" pitchFamily="34" charset="-122"/>
                <a:cs typeface="Calibri" pitchFamily="34" charset="-120"/>
              </a:rPr>
              <a:t>No automatic crash detection</a:t>
            </a:r>
            <a:endParaRPr lang="en-US" sz="1400" dirty="0"/>
          </a:p>
        </p:txBody>
      </p:sp>
      <p:sp>
        <p:nvSpPr>
          <p:cNvPr id="23" name="Text 17"/>
          <p:cNvSpPr/>
          <p:nvPr/>
        </p:nvSpPr>
        <p:spPr>
          <a:xfrm>
            <a:off x="7223760" y="3995928"/>
            <a:ext cx="4023360" cy="731520"/>
          </a:xfrm>
          <a:prstGeom prst="rect">
            <a:avLst/>
          </a:prstGeom>
          <a:noFill/>
          <a:ln/>
        </p:spPr>
        <p:txBody>
          <a:bodyPr wrap="square" rtlCol="0" anchor="ctr"/>
          <a:lstStyle/>
          <a:p>
            <a:pPr indent="0" marL="0">
              <a:lnSpc>
                <a:spcPct val="115000"/>
              </a:lnSpc>
              <a:buNone/>
            </a:pPr>
            <a:r>
              <a:rPr lang="en-US" sz="1050" dirty="0">
                <a:solidFill>
                  <a:srgbClr val="55566B"/>
                </a:solidFill>
                <a:latin typeface="Calibri" pitchFamily="34" charset="0"/>
                <a:ea typeface="Calibri" pitchFamily="34" charset="-122"/>
                <a:cs typeface="Calibri" pitchFamily="34" charset="-120"/>
              </a:rPr>
              <a:t>Apps report after impact, not during</a:t>
            </a:r>
            <a:endParaRPr lang="en-US" sz="1050" dirty="0"/>
          </a:p>
        </p:txBody>
      </p:sp>
      <p:sp>
        <p:nvSpPr>
          <p:cNvPr id="24" name="Shape 18"/>
          <p:cNvSpPr/>
          <p:nvPr/>
        </p:nvSpPr>
        <p:spPr>
          <a:xfrm>
            <a:off x="640080" y="5074920"/>
            <a:ext cx="5166360" cy="1417320"/>
          </a:xfrm>
          <a:prstGeom prst="roundRect">
            <a:avLst>
              <a:gd name="adj" fmla="val 4516"/>
            </a:avLst>
          </a:prstGeom>
          <a:solidFill>
            <a:srgbClr val="FFFFFF"/>
          </a:solidFill>
          <a:ln w="12700">
            <a:solidFill>
              <a:srgbClr val="E4E4EE"/>
            </a:solidFill>
            <a:prstDash val="solid"/>
          </a:ln>
        </p:spPr>
      </p:sp>
      <p:sp>
        <p:nvSpPr>
          <p:cNvPr id="25" name="Shape 19"/>
          <p:cNvSpPr/>
          <p:nvPr/>
        </p:nvSpPr>
        <p:spPr>
          <a:xfrm>
            <a:off x="841248" y="5500116"/>
            <a:ext cx="566928" cy="566928"/>
          </a:xfrm>
          <a:prstGeom prst="ellipse">
            <a:avLst/>
          </a:prstGeom>
          <a:solidFill>
            <a:srgbClr val="B32330"/>
          </a:solidFill>
          <a:ln/>
        </p:spPr>
      </p:sp>
      <p:pic>
        <p:nvPicPr>
          <p:cNvPr id="26" name="Image 4" descr="/home/claude/roadsos_deck/icons/map_pin.png">    </p:cNvPr>
          <p:cNvPicPr>
            <a:picLocks noChangeAspect="1"/>
          </p:cNvPicPr>
          <p:nvPr/>
        </p:nvPicPr>
        <p:blipFill>
          <a:blip r:embed="rId5"/>
          <a:stretch>
            <a:fillRect/>
          </a:stretch>
        </p:blipFill>
        <p:spPr>
          <a:xfrm>
            <a:off x="914949" y="5573817"/>
            <a:ext cx="419527" cy="419527"/>
          </a:xfrm>
          <a:prstGeom prst="rect">
            <a:avLst/>
          </a:prstGeom>
        </p:spPr>
      </p:pic>
      <p:sp>
        <p:nvSpPr>
          <p:cNvPr id="27" name="Text 20"/>
          <p:cNvSpPr/>
          <p:nvPr/>
        </p:nvSpPr>
        <p:spPr>
          <a:xfrm>
            <a:off x="1600200" y="5221224"/>
            <a:ext cx="4023360" cy="457200"/>
          </a:xfrm>
          <a:prstGeom prst="rect">
            <a:avLst/>
          </a:prstGeom>
          <a:noFill/>
          <a:ln/>
        </p:spPr>
        <p:txBody>
          <a:bodyPr wrap="square" rtlCol="0" anchor="ctr"/>
          <a:lstStyle/>
          <a:p>
            <a:pPr indent="0" marL="0">
              <a:buNone/>
            </a:pPr>
            <a:r>
              <a:rPr lang="en-US" sz="1400" b="1" dirty="0">
                <a:solidFill>
                  <a:srgbClr val="1B1B2E"/>
                </a:solidFill>
                <a:latin typeface="Calibri" pitchFamily="34" charset="0"/>
                <a:ea typeface="Calibri" pitchFamily="34" charset="-122"/>
                <a:cs typeface="Calibri" pitchFamily="34" charset="-120"/>
              </a:rPr>
              <a:t>Vague or missing location data</a:t>
            </a:r>
            <a:endParaRPr lang="en-US" sz="1400" dirty="0"/>
          </a:p>
        </p:txBody>
      </p:sp>
      <p:sp>
        <p:nvSpPr>
          <p:cNvPr id="28" name="Text 21"/>
          <p:cNvSpPr/>
          <p:nvPr/>
        </p:nvSpPr>
        <p:spPr>
          <a:xfrm>
            <a:off x="1600200" y="5641848"/>
            <a:ext cx="4023360" cy="731520"/>
          </a:xfrm>
          <a:prstGeom prst="rect">
            <a:avLst/>
          </a:prstGeom>
          <a:noFill/>
          <a:ln/>
        </p:spPr>
        <p:txBody>
          <a:bodyPr wrap="square" rtlCol="0" anchor="ctr"/>
          <a:lstStyle/>
          <a:p>
            <a:pPr indent="0" marL="0">
              <a:lnSpc>
                <a:spcPct val="115000"/>
              </a:lnSpc>
              <a:buNone/>
            </a:pPr>
            <a:r>
              <a:rPr lang="en-US" sz="1050" dirty="0">
                <a:solidFill>
                  <a:srgbClr val="55566B"/>
                </a:solidFill>
                <a:latin typeface="Calibri" pitchFamily="34" charset="0"/>
                <a:ea typeface="Calibri" pitchFamily="34" charset="-122"/>
                <a:cs typeface="Calibri" pitchFamily="34" charset="-120"/>
              </a:rPr>
              <a:t>Location reaches responders late or wrong</a:t>
            </a:r>
            <a:endParaRPr lang="en-US" sz="1050" dirty="0"/>
          </a:p>
        </p:txBody>
      </p:sp>
      <p:sp>
        <p:nvSpPr>
          <p:cNvPr id="29" name="Shape 22"/>
          <p:cNvSpPr/>
          <p:nvPr/>
        </p:nvSpPr>
        <p:spPr>
          <a:xfrm>
            <a:off x="6263640" y="5074920"/>
            <a:ext cx="5166360" cy="1417320"/>
          </a:xfrm>
          <a:prstGeom prst="roundRect">
            <a:avLst>
              <a:gd name="adj" fmla="val 4516"/>
            </a:avLst>
          </a:prstGeom>
          <a:solidFill>
            <a:srgbClr val="FFFFFF"/>
          </a:solidFill>
          <a:ln w="12700">
            <a:solidFill>
              <a:srgbClr val="E4E4EE"/>
            </a:solidFill>
            <a:prstDash val="solid"/>
          </a:ln>
        </p:spPr>
      </p:sp>
      <p:sp>
        <p:nvSpPr>
          <p:cNvPr id="30" name="Shape 23"/>
          <p:cNvSpPr/>
          <p:nvPr/>
        </p:nvSpPr>
        <p:spPr>
          <a:xfrm>
            <a:off x="6464808" y="5500116"/>
            <a:ext cx="566928" cy="566928"/>
          </a:xfrm>
          <a:prstGeom prst="ellipse">
            <a:avLst/>
          </a:prstGeom>
          <a:solidFill>
            <a:srgbClr val="B32330"/>
          </a:solidFill>
          <a:ln/>
        </p:spPr>
      </p:sp>
      <p:pic>
        <p:nvPicPr>
          <p:cNvPr id="31" name="Image 5" descr="/home/claude/roadsos_deck/icons/wifi_off.png">    </p:cNvPr>
          <p:cNvPicPr>
            <a:picLocks noChangeAspect="1"/>
          </p:cNvPicPr>
          <p:nvPr/>
        </p:nvPicPr>
        <p:blipFill>
          <a:blip r:embed="rId6"/>
          <a:stretch>
            <a:fillRect/>
          </a:stretch>
        </p:blipFill>
        <p:spPr>
          <a:xfrm>
            <a:off x="6538509" y="5573817"/>
            <a:ext cx="419527" cy="419527"/>
          </a:xfrm>
          <a:prstGeom prst="rect">
            <a:avLst/>
          </a:prstGeom>
        </p:spPr>
      </p:pic>
      <p:sp>
        <p:nvSpPr>
          <p:cNvPr id="32" name="Text 24"/>
          <p:cNvSpPr/>
          <p:nvPr/>
        </p:nvSpPr>
        <p:spPr>
          <a:xfrm>
            <a:off x="7223760" y="5221224"/>
            <a:ext cx="4023360" cy="457200"/>
          </a:xfrm>
          <a:prstGeom prst="rect">
            <a:avLst/>
          </a:prstGeom>
          <a:noFill/>
          <a:ln/>
        </p:spPr>
        <p:txBody>
          <a:bodyPr wrap="square" rtlCol="0" anchor="ctr"/>
          <a:lstStyle/>
          <a:p>
            <a:pPr indent="0" marL="0">
              <a:buNone/>
            </a:pPr>
            <a:r>
              <a:rPr lang="en-US" sz="1400" b="1" dirty="0">
                <a:solidFill>
                  <a:srgbClr val="1B1B2E"/>
                </a:solidFill>
                <a:latin typeface="Calibri" pitchFamily="34" charset="0"/>
                <a:ea typeface="Calibri" pitchFamily="34" charset="-122"/>
                <a:cs typeface="Calibri" pitchFamily="34" charset="-120"/>
              </a:rPr>
              <a:t>Poor connectivity on highways</a:t>
            </a:r>
            <a:endParaRPr lang="en-US" sz="1400" dirty="0"/>
          </a:p>
        </p:txBody>
      </p:sp>
      <p:sp>
        <p:nvSpPr>
          <p:cNvPr id="33" name="Text 25"/>
          <p:cNvSpPr/>
          <p:nvPr/>
        </p:nvSpPr>
        <p:spPr>
          <a:xfrm>
            <a:off x="7223760" y="5641848"/>
            <a:ext cx="4023360" cy="731520"/>
          </a:xfrm>
          <a:prstGeom prst="rect">
            <a:avLst/>
          </a:prstGeom>
          <a:noFill/>
          <a:ln/>
        </p:spPr>
        <p:txBody>
          <a:bodyPr wrap="square" rtlCol="0" anchor="ctr"/>
          <a:lstStyle/>
          <a:p>
            <a:pPr indent="0" marL="0">
              <a:lnSpc>
                <a:spcPct val="115000"/>
              </a:lnSpc>
              <a:buNone/>
            </a:pPr>
            <a:r>
              <a:rPr lang="en-US" sz="1050" dirty="0">
                <a:solidFill>
                  <a:srgbClr val="55566B"/>
                </a:solidFill>
                <a:latin typeface="Calibri" pitchFamily="34" charset="0"/>
                <a:ea typeface="Calibri" pitchFamily="34" charset="-122"/>
                <a:cs typeface="Calibri" pitchFamily="34" charset="-120"/>
              </a:rPr>
              <a:t>Breaks online-only tools in blackspots</a:t>
            </a:r>
            <a:endParaRPr lang="en-US" sz="1050" dirty="0"/>
          </a:p>
        </p:txBody>
      </p:sp>
      <p:sp>
        <p:nvSpPr>
          <p:cNvPr id="34" name="Text 26"/>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7D7F99"/>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41F"/>
        </a:solidFill>
      </p:bgPr>
    </p:bg>
    <p:spTree>
      <p:nvGrpSpPr>
        <p:cNvPr id="1" name=""/>
        <p:cNvGrpSpPr/>
        <p:nvPr/>
      </p:nvGrpSpPr>
      <p:grpSpPr>
        <a:xfrm>
          <a:off x="0" y="0"/>
          <a:ext cx="0" cy="0"/>
          <a:chOff x="0" y="0"/>
          <a:chExt cx="0" cy="0"/>
        </a:xfrm>
      </p:grpSpPr>
      <p:sp>
        <p:nvSpPr>
          <p:cNvPr id="2" name="Shape 0"/>
          <p:cNvSpPr/>
          <p:nvPr/>
        </p:nvSpPr>
        <p:spPr>
          <a:xfrm>
            <a:off x="7863840" y="-2011680"/>
            <a:ext cx="6400800" cy="6400800"/>
          </a:xfrm>
          <a:prstGeom prst="ellipse">
            <a:avLst/>
          </a:prstGeom>
          <a:solidFill>
            <a:srgbClr val="B32330">
              <a:alpha val="20000"/>
            </a:srgbClr>
          </a:solidFill>
          <a:ln/>
        </p:spPr>
      </p:sp>
      <p:sp>
        <p:nvSpPr>
          <p:cNvPr id="3" name="Text 1"/>
          <p:cNvSpPr/>
          <p:nvPr/>
        </p:nvSpPr>
        <p:spPr>
          <a:xfrm>
            <a:off x="640080" y="457200"/>
            <a:ext cx="7315200" cy="320040"/>
          </a:xfrm>
          <a:prstGeom prst="rect">
            <a:avLst/>
          </a:prstGeom>
          <a:noFill/>
          <a:ln/>
        </p:spPr>
        <p:txBody>
          <a:bodyPr wrap="square" rtlCol="0" anchor="ctr"/>
          <a:lstStyle/>
          <a:p>
            <a:pPr indent="0" marL="0">
              <a:buNone/>
            </a:pPr>
            <a:r>
              <a:rPr lang="en-US" sz="1300" b="1" spc="200" kern="0" dirty="0">
                <a:solidFill>
                  <a:srgbClr val="F4B942"/>
                </a:solidFill>
                <a:latin typeface="Calibri" pitchFamily="34" charset="0"/>
                <a:ea typeface="Calibri" pitchFamily="34" charset="-122"/>
                <a:cs typeface="Calibri" pitchFamily="34" charset="-120"/>
              </a:rPr>
              <a:t>THE SOLUTION</a:t>
            </a:r>
            <a:endParaRPr lang="en-US" sz="1300" dirty="0"/>
          </a:p>
        </p:txBody>
      </p:sp>
      <p:sp>
        <p:nvSpPr>
          <p:cNvPr id="4" name="Text 2"/>
          <p:cNvSpPr/>
          <p:nvPr/>
        </p:nvSpPr>
        <p:spPr>
          <a:xfrm>
            <a:off x="640080" y="777240"/>
            <a:ext cx="10789920" cy="6858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Introducing </a:t>
            </a:r>
            <a:pPr indent="0" marL="0">
              <a:buNone/>
            </a:pPr>
            <a:r>
              <a:rPr lang="en-US" sz="3200" b="1" dirty="0">
                <a:solidFill>
                  <a:srgbClr val="E63946"/>
                </a:solidFill>
                <a:latin typeface="Cambria" pitchFamily="34" charset="0"/>
                <a:ea typeface="Cambria" pitchFamily="34" charset="-122"/>
                <a:cs typeface="Cambria" pitchFamily="34" charset="-120"/>
              </a:rPr>
              <a:t>RoadSoS_AI</a:t>
            </a:r>
            <a:endParaRPr lang="en-US" sz="3200" dirty="0"/>
          </a:p>
        </p:txBody>
      </p:sp>
      <p:sp>
        <p:nvSpPr>
          <p:cNvPr id="5" name="Text 3"/>
          <p:cNvSpPr/>
          <p:nvPr/>
        </p:nvSpPr>
        <p:spPr>
          <a:xfrm>
            <a:off x="640080" y="1554480"/>
            <a:ext cx="7680960" cy="822960"/>
          </a:xfrm>
          <a:prstGeom prst="rect">
            <a:avLst/>
          </a:prstGeom>
          <a:noFill/>
          <a:ln/>
        </p:spPr>
        <p:txBody>
          <a:bodyPr wrap="square" rtlCol="0" anchor="ctr"/>
          <a:lstStyle/>
          <a:p>
            <a:pPr indent="0" marL="0">
              <a:lnSpc>
                <a:spcPct val="120000"/>
              </a:lnSpc>
              <a:buNone/>
            </a:pPr>
            <a:r>
              <a:rPr lang="en-US" sz="1600" i="1" dirty="0">
                <a:solidFill>
                  <a:srgbClr val="F2F2F7"/>
                </a:solidFill>
                <a:latin typeface="Calibri" pitchFamily="34" charset="0"/>
                <a:ea typeface="Calibri" pitchFamily="34" charset="-122"/>
                <a:cs typeface="Calibri" pitchFamily="34" charset="-120"/>
              </a:rPr>
              <a:t>An AI-powered guardian that detects, alerts, and guides — instantly and automatically, even when you can't.</a:t>
            </a:r>
            <a:endParaRPr lang="en-US" sz="1600" dirty="0"/>
          </a:p>
        </p:txBody>
      </p:sp>
      <p:sp>
        <p:nvSpPr>
          <p:cNvPr id="6" name="Shape 4"/>
          <p:cNvSpPr/>
          <p:nvPr/>
        </p:nvSpPr>
        <p:spPr>
          <a:xfrm>
            <a:off x="640080" y="2514600"/>
            <a:ext cx="10789920" cy="1005840"/>
          </a:xfrm>
          <a:prstGeom prst="roundRect">
            <a:avLst>
              <a:gd name="adj" fmla="val 8182"/>
            </a:avLst>
          </a:prstGeom>
          <a:solidFill>
            <a:srgbClr val="E63946"/>
          </a:solidFill>
          <a:ln/>
        </p:spPr>
      </p:sp>
      <p:sp>
        <p:nvSpPr>
          <p:cNvPr id="7" name="Shape 5"/>
          <p:cNvSpPr/>
          <p:nvPr/>
        </p:nvSpPr>
        <p:spPr>
          <a:xfrm>
            <a:off x="868680" y="2724912"/>
            <a:ext cx="594360" cy="594360"/>
          </a:xfrm>
          <a:prstGeom prst="ellipse">
            <a:avLst/>
          </a:prstGeom>
          <a:solidFill>
            <a:srgbClr val="FFFFFF">
              <a:alpha val="15000"/>
            </a:srgbClr>
          </a:solidFill>
          <a:ln/>
        </p:spPr>
      </p:sp>
      <p:pic>
        <p:nvPicPr>
          <p:cNvPr id="8" name="Image 0" descr="/home/claude/roadsos_deck/icons/eye.png">    </p:cNvPr>
          <p:cNvPicPr>
            <a:picLocks noChangeAspect="1"/>
          </p:cNvPicPr>
          <p:nvPr/>
        </p:nvPicPr>
        <p:blipFill>
          <a:blip r:embed="rId1"/>
          <a:stretch>
            <a:fillRect/>
          </a:stretch>
        </p:blipFill>
        <p:spPr>
          <a:xfrm>
            <a:off x="945947" y="2802179"/>
            <a:ext cx="439826" cy="439826"/>
          </a:xfrm>
          <a:prstGeom prst="rect">
            <a:avLst/>
          </a:prstGeom>
        </p:spPr>
      </p:pic>
      <p:sp>
        <p:nvSpPr>
          <p:cNvPr id="9" name="Text 6"/>
          <p:cNvSpPr/>
          <p:nvPr/>
        </p:nvSpPr>
        <p:spPr>
          <a:xfrm>
            <a:off x="1645920" y="2514600"/>
            <a:ext cx="9509760" cy="100584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WORKS EVEN WHEN THE VICTIM IS UNCONSCIOUS</a:t>
            </a:r>
            <a:endParaRPr lang="en-US" sz="2000" dirty="0"/>
          </a:p>
        </p:txBody>
      </p:sp>
      <p:sp>
        <p:nvSpPr>
          <p:cNvPr id="10" name="Shape 7"/>
          <p:cNvSpPr/>
          <p:nvPr/>
        </p:nvSpPr>
        <p:spPr>
          <a:xfrm>
            <a:off x="640080" y="3794760"/>
            <a:ext cx="3410712" cy="2286000"/>
          </a:xfrm>
          <a:prstGeom prst="roundRect">
            <a:avLst>
              <a:gd name="adj" fmla="val 3200"/>
            </a:avLst>
          </a:prstGeom>
          <a:solidFill>
            <a:srgbClr val="1E1E33"/>
          </a:solidFill>
          <a:ln/>
        </p:spPr>
      </p:sp>
      <p:sp>
        <p:nvSpPr>
          <p:cNvPr id="11" name="Shape 8"/>
          <p:cNvSpPr/>
          <p:nvPr/>
        </p:nvSpPr>
        <p:spPr>
          <a:xfrm>
            <a:off x="914400" y="4087368"/>
            <a:ext cx="640080" cy="640080"/>
          </a:xfrm>
          <a:prstGeom prst="ellipse">
            <a:avLst/>
          </a:prstGeom>
          <a:solidFill>
            <a:srgbClr val="2F80ED"/>
          </a:solidFill>
          <a:ln/>
        </p:spPr>
      </p:sp>
      <p:pic>
        <p:nvPicPr>
          <p:cNvPr id="12" name="Image 1" descr="/home/claude/roadsos_deck/icons/target.png">    </p:cNvPr>
          <p:cNvPicPr>
            <a:picLocks noChangeAspect="1"/>
          </p:cNvPicPr>
          <p:nvPr/>
        </p:nvPicPr>
        <p:blipFill>
          <a:blip r:embed="rId2"/>
          <a:stretch>
            <a:fillRect/>
          </a:stretch>
        </p:blipFill>
        <p:spPr>
          <a:xfrm>
            <a:off x="997610" y="4170578"/>
            <a:ext cx="473659" cy="473659"/>
          </a:xfrm>
          <a:prstGeom prst="rect">
            <a:avLst/>
          </a:prstGeom>
        </p:spPr>
      </p:pic>
      <p:sp>
        <p:nvSpPr>
          <p:cNvPr id="13" name="Text 9"/>
          <p:cNvSpPr/>
          <p:nvPr/>
        </p:nvSpPr>
        <p:spPr>
          <a:xfrm>
            <a:off x="914400" y="4892040"/>
            <a:ext cx="2862072"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Mission: &lt; 60 sec</a:t>
            </a:r>
            <a:endParaRPr lang="en-US" sz="1500" dirty="0"/>
          </a:p>
        </p:txBody>
      </p:sp>
      <p:sp>
        <p:nvSpPr>
          <p:cNvPr id="14" name="Text 10"/>
          <p:cNvSpPr/>
          <p:nvPr/>
        </p:nvSpPr>
        <p:spPr>
          <a:xfrm>
            <a:off x="914400" y="5330952"/>
            <a:ext cx="2862072" cy="640080"/>
          </a:xfrm>
          <a:prstGeom prst="rect">
            <a:avLst/>
          </a:prstGeom>
          <a:noFill/>
          <a:ln/>
        </p:spPr>
        <p:txBody>
          <a:bodyPr wrap="square" rtlCol="0" anchor="ctr"/>
          <a:lstStyle/>
          <a:p>
            <a:pPr indent="0" marL="0">
              <a:lnSpc>
                <a:spcPct val="120000"/>
              </a:lnSpc>
              <a:buNone/>
            </a:pPr>
            <a:r>
              <a:rPr lang="en-US" sz="1100" dirty="0">
                <a:solidFill>
                  <a:srgbClr val="A7A9BE"/>
                </a:solidFill>
                <a:latin typeface="Calibri" pitchFamily="34" charset="0"/>
                <a:ea typeface="Calibri" pitchFamily="34" charset="-122"/>
                <a:cs typeface="Calibri" pitchFamily="34" charset="-120"/>
              </a:rPr>
              <a:t>Cuts emergency response from 6+ minutes to under 60 seconds</a:t>
            </a:r>
            <a:endParaRPr lang="en-US" sz="1100" dirty="0"/>
          </a:p>
        </p:txBody>
      </p:sp>
      <p:sp>
        <p:nvSpPr>
          <p:cNvPr id="15" name="Shape 11"/>
          <p:cNvSpPr/>
          <p:nvPr/>
        </p:nvSpPr>
        <p:spPr>
          <a:xfrm>
            <a:off x="4325112" y="3794760"/>
            <a:ext cx="3410712" cy="2286000"/>
          </a:xfrm>
          <a:prstGeom prst="roundRect">
            <a:avLst>
              <a:gd name="adj" fmla="val 3200"/>
            </a:avLst>
          </a:prstGeom>
          <a:solidFill>
            <a:srgbClr val="1E1E33"/>
          </a:solidFill>
          <a:ln/>
        </p:spPr>
      </p:sp>
      <p:sp>
        <p:nvSpPr>
          <p:cNvPr id="16" name="Shape 12"/>
          <p:cNvSpPr/>
          <p:nvPr/>
        </p:nvSpPr>
        <p:spPr>
          <a:xfrm>
            <a:off x="4599432" y="4087368"/>
            <a:ext cx="640080" cy="640080"/>
          </a:xfrm>
          <a:prstGeom prst="ellipse">
            <a:avLst/>
          </a:prstGeom>
          <a:solidFill>
            <a:srgbClr val="2F80ED"/>
          </a:solidFill>
          <a:ln/>
        </p:spPr>
      </p:sp>
      <p:pic>
        <p:nvPicPr>
          <p:cNvPr id="17" name="Image 2" descr="/home/claude/roadsos_deck/icons/shield.png">    </p:cNvPr>
          <p:cNvPicPr>
            <a:picLocks noChangeAspect="1"/>
          </p:cNvPicPr>
          <p:nvPr/>
        </p:nvPicPr>
        <p:blipFill>
          <a:blip r:embed="rId3"/>
          <a:stretch>
            <a:fillRect/>
          </a:stretch>
        </p:blipFill>
        <p:spPr>
          <a:xfrm>
            <a:off x="4682642" y="4170578"/>
            <a:ext cx="473659" cy="473659"/>
          </a:xfrm>
          <a:prstGeom prst="rect">
            <a:avLst/>
          </a:prstGeom>
        </p:spPr>
      </p:pic>
      <p:sp>
        <p:nvSpPr>
          <p:cNvPr id="18" name="Text 13"/>
          <p:cNvSpPr/>
          <p:nvPr/>
        </p:nvSpPr>
        <p:spPr>
          <a:xfrm>
            <a:off x="4599432" y="4892040"/>
            <a:ext cx="2862072"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Runs in the background</a:t>
            </a:r>
            <a:endParaRPr lang="en-US" sz="1500" dirty="0"/>
          </a:p>
        </p:txBody>
      </p:sp>
      <p:sp>
        <p:nvSpPr>
          <p:cNvPr id="19" name="Text 14"/>
          <p:cNvSpPr/>
          <p:nvPr/>
        </p:nvSpPr>
        <p:spPr>
          <a:xfrm>
            <a:off x="4599432" y="5330952"/>
            <a:ext cx="2862072" cy="640080"/>
          </a:xfrm>
          <a:prstGeom prst="rect">
            <a:avLst/>
          </a:prstGeom>
          <a:noFill/>
          <a:ln/>
        </p:spPr>
        <p:txBody>
          <a:bodyPr wrap="square" rtlCol="0" anchor="ctr"/>
          <a:lstStyle/>
          <a:p>
            <a:pPr indent="0" marL="0">
              <a:lnSpc>
                <a:spcPct val="120000"/>
              </a:lnSpc>
              <a:buNone/>
            </a:pPr>
            <a:r>
              <a:rPr lang="en-US" sz="1100" dirty="0">
                <a:solidFill>
                  <a:srgbClr val="A7A9BE"/>
                </a:solidFill>
                <a:latin typeface="Calibri" pitchFamily="34" charset="0"/>
                <a:ea typeface="Calibri" pitchFamily="34" charset="-122"/>
                <a:cs typeface="Calibri" pitchFamily="34" charset="-120"/>
              </a:rPr>
              <a:t>Fully active even when the app is closed</a:t>
            </a:r>
            <a:endParaRPr lang="en-US" sz="1100" dirty="0"/>
          </a:p>
        </p:txBody>
      </p:sp>
      <p:sp>
        <p:nvSpPr>
          <p:cNvPr id="20" name="Shape 15"/>
          <p:cNvSpPr/>
          <p:nvPr/>
        </p:nvSpPr>
        <p:spPr>
          <a:xfrm>
            <a:off x="8010144" y="3794760"/>
            <a:ext cx="3410712" cy="2286000"/>
          </a:xfrm>
          <a:prstGeom prst="roundRect">
            <a:avLst>
              <a:gd name="adj" fmla="val 3200"/>
            </a:avLst>
          </a:prstGeom>
          <a:solidFill>
            <a:srgbClr val="1E1E33"/>
          </a:solidFill>
          <a:ln/>
        </p:spPr>
      </p:sp>
      <p:sp>
        <p:nvSpPr>
          <p:cNvPr id="21" name="Shape 16"/>
          <p:cNvSpPr/>
          <p:nvPr/>
        </p:nvSpPr>
        <p:spPr>
          <a:xfrm>
            <a:off x="8284464" y="4087368"/>
            <a:ext cx="640080" cy="640080"/>
          </a:xfrm>
          <a:prstGeom prst="ellipse">
            <a:avLst/>
          </a:prstGeom>
          <a:solidFill>
            <a:srgbClr val="2F80ED"/>
          </a:solidFill>
          <a:ln/>
        </p:spPr>
      </p:sp>
      <p:pic>
        <p:nvPicPr>
          <p:cNvPr id="22" name="Image 3" descr="/home/claude/roadsos_deck/icons/wifi_off.png">    </p:cNvPr>
          <p:cNvPicPr>
            <a:picLocks noChangeAspect="1"/>
          </p:cNvPicPr>
          <p:nvPr/>
        </p:nvPicPr>
        <p:blipFill>
          <a:blip r:embed="rId4"/>
          <a:stretch>
            <a:fillRect/>
          </a:stretch>
        </p:blipFill>
        <p:spPr>
          <a:xfrm>
            <a:off x="8367674" y="4170578"/>
            <a:ext cx="473659" cy="473659"/>
          </a:xfrm>
          <a:prstGeom prst="rect">
            <a:avLst/>
          </a:prstGeom>
        </p:spPr>
      </p:pic>
      <p:sp>
        <p:nvSpPr>
          <p:cNvPr id="23" name="Text 17"/>
          <p:cNvSpPr/>
          <p:nvPr/>
        </p:nvSpPr>
        <p:spPr>
          <a:xfrm>
            <a:off x="8284464" y="4892040"/>
            <a:ext cx="2862072"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Works fully offline</a:t>
            </a:r>
            <a:endParaRPr lang="en-US" sz="1500" dirty="0"/>
          </a:p>
        </p:txBody>
      </p:sp>
      <p:sp>
        <p:nvSpPr>
          <p:cNvPr id="24" name="Text 18"/>
          <p:cNvSpPr/>
          <p:nvPr/>
        </p:nvSpPr>
        <p:spPr>
          <a:xfrm>
            <a:off x="8284464" y="5330952"/>
            <a:ext cx="2862072" cy="640080"/>
          </a:xfrm>
          <a:prstGeom prst="rect">
            <a:avLst/>
          </a:prstGeom>
          <a:noFill/>
          <a:ln/>
        </p:spPr>
        <p:txBody>
          <a:bodyPr wrap="square" rtlCol="0" anchor="ctr"/>
          <a:lstStyle/>
          <a:p>
            <a:pPr indent="0" marL="0">
              <a:lnSpc>
                <a:spcPct val="120000"/>
              </a:lnSpc>
              <a:buNone/>
            </a:pPr>
            <a:r>
              <a:rPr lang="en-US" sz="1100" dirty="0">
                <a:solidFill>
                  <a:srgbClr val="A7A9BE"/>
                </a:solidFill>
                <a:latin typeface="Calibri" pitchFamily="34" charset="0"/>
                <a:ea typeface="Calibri" pitchFamily="34" charset="-122"/>
                <a:cs typeface="Calibri" pitchFamily="34" charset="-120"/>
              </a:rPr>
              <a:t>No dependency on constant internet connectivity</a:t>
            </a:r>
            <a:endParaRPr lang="en-US" sz="1100" dirty="0"/>
          </a:p>
        </p:txBody>
      </p:sp>
      <p:sp>
        <p:nvSpPr>
          <p:cNvPr id="25" name="Text 19"/>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B9B9C4"/>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7"/>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300" b="1" spc="200" kern="0" dirty="0">
                <a:solidFill>
                  <a:srgbClr val="B32330"/>
                </a:solidFill>
                <a:latin typeface="Calibri" pitchFamily="34" charset="0"/>
                <a:ea typeface="Calibri" pitchFamily="34" charset="-122"/>
                <a:cs typeface="Calibri" pitchFamily="34" charset="-120"/>
              </a:rPr>
              <a:t>HOW IT WORKS</a:t>
            </a:r>
            <a:endParaRPr lang="en-US" sz="1300" dirty="0"/>
          </a:p>
        </p:txBody>
      </p:sp>
      <p:sp>
        <p:nvSpPr>
          <p:cNvPr id="3" name="Text 1"/>
          <p:cNvSpPr/>
          <p:nvPr/>
        </p:nvSpPr>
        <p:spPr>
          <a:xfrm>
            <a:off x="640080" y="777240"/>
            <a:ext cx="10789920" cy="685800"/>
          </a:xfrm>
          <a:prstGeom prst="rect">
            <a:avLst/>
          </a:prstGeom>
          <a:noFill/>
          <a:ln/>
        </p:spPr>
        <p:txBody>
          <a:bodyPr wrap="square" rtlCol="0" anchor="ctr"/>
          <a:lstStyle/>
          <a:p>
            <a:pPr indent="0" marL="0">
              <a:buNone/>
            </a:pPr>
            <a:r>
              <a:rPr lang="en-US" sz="3200" b="1" dirty="0">
                <a:solidFill>
                  <a:srgbClr val="1B1B2E"/>
                </a:solidFill>
                <a:latin typeface="Cambria" pitchFamily="34" charset="0"/>
                <a:ea typeface="Cambria" pitchFamily="34" charset="-122"/>
                <a:cs typeface="Cambria" pitchFamily="34" charset="-120"/>
              </a:rPr>
              <a:t>The Emergency Response Flow</a:t>
            </a:r>
            <a:endParaRPr lang="en-US" sz="3200" dirty="0"/>
          </a:p>
        </p:txBody>
      </p:sp>
      <p:sp>
        <p:nvSpPr>
          <p:cNvPr id="4" name="Shape 2"/>
          <p:cNvSpPr/>
          <p:nvPr/>
        </p:nvSpPr>
        <p:spPr>
          <a:xfrm>
            <a:off x="640080" y="1783080"/>
            <a:ext cx="3364992" cy="1965960"/>
          </a:xfrm>
          <a:prstGeom prst="roundRect">
            <a:avLst>
              <a:gd name="adj" fmla="val 3721"/>
            </a:avLst>
          </a:prstGeom>
          <a:solidFill>
            <a:srgbClr val="FFFFFF"/>
          </a:solidFill>
          <a:ln w="12700">
            <a:solidFill>
              <a:srgbClr val="E4E4EE"/>
            </a:solidFill>
            <a:prstDash val="solid"/>
          </a:ln>
        </p:spPr>
      </p:sp>
      <p:sp>
        <p:nvSpPr>
          <p:cNvPr id="5" name="Shape 3"/>
          <p:cNvSpPr/>
          <p:nvPr/>
        </p:nvSpPr>
        <p:spPr>
          <a:xfrm>
            <a:off x="841248" y="1984248"/>
            <a:ext cx="457200" cy="457200"/>
          </a:xfrm>
          <a:prstGeom prst="ellipse">
            <a:avLst/>
          </a:prstGeom>
          <a:solidFill>
            <a:srgbClr val="E63946"/>
          </a:solidFill>
          <a:ln/>
        </p:spPr>
      </p:sp>
      <p:sp>
        <p:nvSpPr>
          <p:cNvPr id="6" name="Text 4"/>
          <p:cNvSpPr/>
          <p:nvPr/>
        </p:nvSpPr>
        <p:spPr>
          <a:xfrm>
            <a:off x="841248" y="1984248"/>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Shape 5"/>
          <p:cNvSpPr/>
          <p:nvPr/>
        </p:nvSpPr>
        <p:spPr>
          <a:xfrm>
            <a:off x="3227832" y="1965960"/>
            <a:ext cx="502920" cy="502920"/>
          </a:xfrm>
          <a:prstGeom prst="ellipse">
            <a:avLst/>
          </a:prstGeom>
          <a:solidFill>
            <a:srgbClr val="2F80ED">
              <a:alpha val="20000"/>
            </a:srgbClr>
          </a:solidFill>
          <a:ln/>
        </p:spPr>
      </p:sp>
      <p:pic>
        <p:nvPicPr>
          <p:cNvPr id="8" name="Image 0" descr="/home/claude/roadsos_deck/icons/activity.png">    </p:cNvPr>
          <p:cNvPicPr>
            <a:picLocks noChangeAspect="1"/>
          </p:cNvPicPr>
          <p:nvPr/>
        </p:nvPicPr>
        <p:blipFill>
          <a:blip r:embed="rId1"/>
          <a:stretch>
            <a:fillRect/>
          </a:stretch>
        </p:blipFill>
        <p:spPr>
          <a:xfrm>
            <a:off x="3293212" y="2031340"/>
            <a:ext cx="372161" cy="372161"/>
          </a:xfrm>
          <a:prstGeom prst="rect">
            <a:avLst/>
          </a:prstGeom>
        </p:spPr>
      </p:pic>
      <p:sp>
        <p:nvSpPr>
          <p:cNvPr id="9" name="Text 6"/>
          <p:cNvSpPr/>
          <p:nvPr/>
        </p:nvSpPr>
        <p:spPr>
          <a:xfrm>
            <a:off x="841248" y="2560320"/>
            <a:ext cx="2962656" cy="365760"/>
          </a:xfrm>
          <a:prstGeom prst="rect">
            <a:avLst/>
          </a:prstGeom>
          <a:noFill/>
          <a:ln/>
        </p:spPr>
        <p:txBody>
          <a:bodyPr wrap="square" rtlCol="0" anchor="ctr"/>
          <a:lstStyle/>
          <a:p>
            <a:pPr indent="0" marL="0">
              <a:buNone/>
            </a:pPr>
            <a:r>
              <a:rPr lang="en-US" sz="1400" b="1" dirty="0">
                <a:solidFill>
                  <a:srgbClr val="1B1B2E"/>
                </a:solidFill>
                <a:latin typeface="Calibri" pitchFamily="34" charset="0"/>
                <a:ea typeface="Calibri" pitchFamily="34" charset="-122"/>
                <a:cs typeface="Calibri" pitchFamily="34" charset="-120"/>
              </a:rPr>
              <a:t>Crash Detected</a:t>
            </a:r>
            <a:endParaRPr lang="en-US" sz="1400" dirty="0"/>
          </a:p>
        </p:txBody>
      </p:sp>
      <p:sp>
        <p:nvSpPr>
          <p:cNvPr id="10" name="Text 7"/>
          <p:cNvSpPr/>
          <p:nvPr/>
        </p:nvSpPr>
        <p:spPr>
          <a:xfrm>
            <a:off x="841248" y="2898648"/>
            <a:ext cx="2962656" cy="777240"/>
          </a:xfrm>
          <a:prstGeom prst="rect">
            <a:avLst/>
          </a:prstGeom>
          <a:noFill/>
          <a:ln/>
        </p:spPr>
        <p:txBody>
          <a:bodyPr wrap="square" rtlCol="0" anchor="ctr"/>
          <a:lstStyle/>
          <a:p>
            <a:pPr indent="0" marL="0">
              <a:lnSpc>
                <a:spcPct val="115000"/>
              </a:lnSpc>
              <a:buNone/>
            </a:pPr>
            <a:r>
              <a:rPr lang="en-US" sz="1050" dirty="0">
                <a:solidFill>
                  <a:srgbClr val="55566B"/>
                </a:solidFill>
                <a:latin typeface="Calibri" pitchFamily="34" charset="0"/>
                <a:ea typeface="Calibri" pitchFamily="34" charset="-122"/>
                <a:cs typeface="Calibri" pitchFamily="34" charset="-120"/>
              </a:rPr>
              <a:t>Sensor fusion confirms a real collision</a:t>
            </a:r>
            <a:endParaRPr lang="en-US" sz="1050" dirty="0"/>
          </a:p>
        </p:txBody>
      </p:sp>
      <p:sp>
        <p:nvSpPr>
          <p:cNvPr id="11" name="Text 8"/>
          <p:cNvSpPr/>
          <p:nvPr/>
        </p:nvSpPr>
        <p:spPr>
          <a:xfrm>
            <a:off x="3986784" y="2537460"/>
            <a:ext cx="292608" cy="457200"/>
          </a:xfrm>
          <a:prstGeom prst="rect">
            <a:avLst/>
          </a:prstGeom>
          <a:noFill/>
          <a:ln/>
        </p:spPr>
        <p:txBody>
          <a:bodyPr wrap="square" rtlCol="0" anchor="ctr"/>
          <a:lstStyle/>
          <a:p>
            <a:pPr algn="ctr" indent="0" marL="0">
              <a:buNone/>
            </a:pPr>
            <a:r>
              <a:rPr lang="en-US" sz="2000" b="1" dirty="0">
                <a:solidFill>
                  <a:srgbClr val="C7C9DA"/>
                </a:solidFill>
                <a:latin typeface="Calibri" pitchFamily="34" charset="0"/>
                <a:ea typeface="Calibri" pitchFamily="34" charset="-122"/>
                <a:cs typeface="Calibri" pitchFamily="34" charset="-120"/>
              </a:rPr>
              <a:t>→</a:t>
            </a:r>
            <a:endParaRPr lang="en-US" sz="2000" dirty="0"/>
          </a:p>
        </p:txBody>
      </p:sp>
      <p:sp>
        <p:nvSpPr>
          <p:cNvPr id="12" name="Shape 9"/>
          <p:cNvSpPr/>
          <p:nvPr/>
        </p:nvSpPr>
        <p:spPr>
          <a:xfrm>
            <a:off x="4261104" y="1783080"/>
            <a:ext cx="3364992" cy="1965960"/>
          </a:xfrm>
          <a:prstGeom prst="roundRect">
            <a:avLst>
              <a:gd name="adj" fmla="val 3721"/>
            </a:avLst>
          </a:prstGeom>
          <a:solidFill>
            <a:srgbClr val="FFFFFF"/>
          </a:solidFill>
          <a:ln w="12700">
            <a:solidFill>
              <a:srgbClr val="E4E4EE"/>
            </a:solidFill>
            <a:prstDash val="solid"/>
          </a:ln>
        </p:spPr>
      </p:sp>
      <p:sp>
        <p:nvSpPr>
          <p:cNvPr id="13" name="Shape 10"/>
          <p:cNvSpPr/>
          <p:nvPr/>
        </p:nvSpPr>
        <p:spPr>
          <a:xfrm>
            <a:off x="4462272" y="1984248"/>
            <a:ext cx="457200" cy="457200"/>
          </a:xfrm>
          <a:prstGeom prst="ellipse">
            <a:avLst/>
          </a:prstGeom>
          <a:solidFill>
            <a:srgbClr val="E63946"/>
          </a:solidFill>
          <a:ln/>
        </p:spPr>
      </p:sp>
      <p:sp>
        <p:nvSpPr>
          <p:cNvPr id="14" name="Text 11"/>
          <p:cNvSpPr/>
          <p:nvPr/>
        </p:nvSpPr>
        <p:spPr>
          <a:xfrm>
            <a:off x="4462272" y="1984248"/>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Shape 12"/>
          <p:cNvSpPr/>
          <p:nvPr/>
        </p:nvSpPr>
        <p:spPr>
          <a:xfrm>
            <a:off x="6848856" y="1965960"/>
            <a:ext cx="502920" cy="502920"/>
          </a:xfrm>
          <a:prstGeom prst="ellipse">
            <a:avLst/>
          </a:prstGeom>
          <a:solidFill>
            <a:srgbClr val="2F80ED">
              <a:alpha val="20000"/>
            </a:srgbClr>
          </a:solidFill>
          <a:ln/>
        </p:spPr>
      </p:sp>
      <p:pic>
        <p:nvPicPr>
          <p:cNvPr id="16" name="Image 1" descr="/home/claude/roadsos_deck/icons/clock.png">    </p:cNvPr>
          <p:cNvPicPr>
            <a:picLocks noChangeAspect="1"/>
          </p:cNvPicPr>
          <p:nvPr/>
        </p:nvPicPr>
        <p:blipFill>
          <a:blip r:embed="rId2"/>
          <a:stretch>
            <a:fillRect/>
          </a:stretch>
        </p:blipFill>
        <p:spPr>
          <a:xfrm>
            <a:off x="6914236" y="2031340"/>
            <a:ext cx="372161" cy="372161"/>
          </a:xfrm>
          <a:prstGeom prst="rect">
            <a:avLst/>
          </a:prstGeom>
        </p:spPr>
      </p:pic>
      <p:sp>
        <p:nvSpPr>
          <p:cNvPr id="17" name="Text 13"/>
          <p:cNvSpPr/>
          <p:nvPr/>
        </p:nvSpPr>
        <p:spPr>
          <a:xfrm>
            <a:off x="4462272" y="2560320"/>
            <a:ext cx="2962656" cy="365760"/>
          </a:xfrm>
          <a:prstGeom prst="rect">
            <a:avLst/>
          </a:prstGeom>
          <a:noFill/>
          <a:ln/>
        </p:spPr>
        <p:txBody>
          <a:bodyPr wrap="square" rtlCol="0" anchor="ctr"/>
          <a:lstStyle/>
          <a:p>
            <a:pPr indent="0" marL="0">
              <a:buNone/>
            </a:pPr>
            <a:r>
              <a:rPr lang="en-US" sz="1400" b="1" dirty="0">
                <a:solidFill>
                  <a:srgbClr val="1B1B2E"/>
                </a:solidFill>
                <a:latin typeface="Calibri" pitchFamily="34" charset="0"/>
                <a:ea typeface="Calibri" pitchFamily="34" charset="-122"/>
                <a:cs typeface="Calibri" pitchFamily="34" charset="-120"/>
              </a:rPr>
              <a:t>10-Sec Countdown</a:t>
            </a:r>
            <a:endParaRPr lang="en-US" sz="1400" dirty="0"/>
          </a:p>
        </p:txBody>
      </p:sp>
      <p:sp>
        <p:nvSpPr>
          <p:cNvPr id="18" name="Text 14"/>
          <p:cNvSpPr/>
          <p:nvPr/>
        </p:nvSpPr>
        <p:spPr>
          <a:xfrm>
            <a:off x="4462272" y="2898648"/>
            <a:ext cx="2962656" cy="777240"/>
          </a:xfrm>
          <a:prstGeom prst="rect">
            <a:avLst/>
          </a:prstGeom>
          <a:noFill/>
          <a:ln/>
        </p:spPr>
        <p:txBody>
          <a:bodyPr wrap="square" rtlCol="0" anchor="ctr"/>
          <a:lstStyle/>
          <a:p>
            <a:pPr indent="0" marL="0">
              <a:lnSpc>
                <a:spcPct val="115000"/>
              </a:lnSpc>
              <a:buNone/>
            </a:pPr>
            <a:r>
              <a:rPr lang="en-US" sz="1050" dirty="0">
                <a:solidFill>
                  <a:srgbClr val="55566B"/>
                </a:solidFill>
                <a:latin typeface="Calibri" pitchFamily="34" charset="0"/>
                <a:ea typeface="Calibri" pitchFamily="34" charset="-122"/>
                <a:cs typeface="Calibri" pitchFamily="34" charset="-120"/>
              </a:rPr>
              <a:t>A window to cancel false alarms</a:t>
            </a:r>
            <a:endParaRPr lang="en-US" sz="1050" dirty="0"/>
          </a:p>
        </p:txBody>
      </p:sp>
      <p:sp>
        <p:nvSpPr>
          <p:cNvPr id="19" name="Text 15"/>
          <p:cNvSpPr/>
          <p:nvPr/>
        </p:nvSpPr>
        <p:spPr>
          <a:xfrm>
            <a:off x="7607808" y="2537460"/>
            <a:ext cx="292608" cy="457200"/>
          </a:xfrm>
          <a:prstGeom prst="rect">
            <a:avLst/>
          </a:prstGeom>
          <a:noFill/>
          <a:ln/>
        </p:spPr>
        <p:txBody>
          <a:bodyPr wrap="square" rtlCol="0" anchor="ctr"/>
          <a:lstStyle/>
          <a:p>
            <a:pPr algn="ctr" indent="0" marL="0">
              <a:buNone/>
            </a:pPr>
            <a:r>
              <a:rPr lang="en-US" sz="2000" b="1" dirty="0">
                <a:solidFill>
                  <a:srgbClr val="C7C9DA"/>
                </a:solidFill>
                <a:latin typeface="Calibri" pitchFamily="34" charset="0"/>
                <a:ea typeface="Calibri" pitchFamily="34" charset="-122"/>
                <a:cs typeface="Calibri" pitchFamily="34" charset="-120"/>
              </a:rPr>
              <a:t>→</a:t>
            </a:r>
            <a:endParaRPr lang="en-US" sz="2000" dirty="0"/>
          </a:p>
        </p:txBody>
      </p:sp>
      <p:sp>
        <p:nvSpPr>
          <p:cNvPr id="20" name="Shape 16"/>
          <p:cNvSpPr/>
          <p:nvPr/>
        </p:nvSpPr>
        <p:spPr>
          <a:xfrm>
            <a:off x="7882128" y="1783080"/>
            <a:ext cx="3364992" cy="1965960"/>
          </a:xfrm>
          <a:prstGeom prst="roundRect">
            <a:avLst>
              <a:gd name="adj" fmla="val 3721"/>
            </a:avLst>
          </a:prstGeom>
          <a:solidFill>
            <a:srgbClr val="FFFFFF"/>
          </a:solidFill>
          <a:ln w="12700">
            <a:solidFill>
              <a:srgbClr val="E4E4EE"/>
            </a:solidFill>
            <a:prstDash val="solid"/>
          </a:ln>
        </p:spPr>
      </p:sp>
      <p:sp>
        <p:nvSpPr>
          <p:cNvPr id="21" name="Shape 17"/>
          <p:cNvSpPr/>
          <p:nvPr/>
        </p:nvSpPr>
        <p:spPr>
          <a:xfrm>
            <a:off x="8083296" y="1984248"/>
            <a:ext cx="457200" cy="457200"/>
          </a:xfrm>
          <a:prstGeom prst="ellipse">
            <a:avLst/>
          </a:prstGeom>
          <a:solidFill>
            <a:srgbClr val="E63946"/>
          </a:solidFill>
          <a:ln/>
        </p:spPr>
      </p:sp>
      <p:sp>
        <p:nvSpPr>
          <p:cNvPr id="22" name="Text 18"/>
          <p:cNvSpPr/>
          <p:nvPr/>
        </p:nvSpPr>
        <p:spPr>
          <a:xfrm>
            <a:off x="8083296" y="1984248"/>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3" name="Shape 19"/>
          <p:cNvSpPr/>
          <p:nvPr/>
        </p:nvSpPr>
        <p:spPr>
          <a:xfrm>
            <a:off x="10469880" y="1965960"/>
            <a:ext cx="502920" cy="502920"/>
          </a:xfrm>
          <a:prstGeom prst="ellipse">
            <a:avLst/>
          </a:prstGeom>
          <a:solidFill>
            <a:srgbClr val="2F80ED">
              <a:alpha val="20000"/>
            </a:srgbClr>
          </a:solidFill>
          <a:ln/>
        </p:spPr>
      </p:sp>
      <p:pic>
        <p:nvPicPr>
          <p:cNvPr id="24" name="Image 2" descr="/home/claude/roadsos_deck/icons/zap.png">    </p:cNvPr>
          <p:cNvPicPr>
            <a:picLocks noChangeAspect="1"/>
          </p:cNvPicPr>
          <p:nvPr/>
        </p:nvPicPr>
        <p:blipFill>
          <a:blip r:embed="rId3"/>
          <a:stretch>
            <a:fillRect/>
          </a:stretch>
        </p:blipFill>
        <p:spPr>
          <a:xfrm>
            <a:off x="10535260" y="2031340"/>
            <a:ext cx="372161" cy="372161"/>
          </a:xfrm>
          <a:prstGeom prst="rect">
            <a:avLst/>
          </a:prstGeom>
        </p:spPr>
      </p:pic>
      <p:sp>
        <p:nvSpPr>
          <p:cNvPr id="25" name="Text 20"/>
          <p:cNvSpPr/>
          <p:nvPr/>
        </p:nvSpPr>
        <p:spPr>
          <a:xfrm>
            <a:off x="8083296" y="2560320"/>
            <a:ext cx="2962656" cy="365760"/>
          </a:xfrm>
          <a:prstGeom prst="rect">
            <a:avLst/>
          </a:prstGeom>
          <a:noFill/>
          <a:ln/>
        </p:spPr>
        <p:txBody>
          <a:bodyPr wrap="square" rtlCol="0" anchor="ctr"/>
          <a:lstStyle/>
          <a:p>
            <a:pPr indent="0" marL="0">
              <a:buNone/>
            </a:pPr>
            <a:r>
              <a:rPr lang="en-US" sz="1400" b="1" dirty="0">
                <a:solidFill>
                  <a:srgbClr val="1B1B2E"/>
                </a:solidFill>
                <a:latin typeface="Calibri" pitchFamily="34" charset="0"/>
                <a:ea typeface="Calibri" pitchFamily="34" charset="-122"/>
                <a:cs typeface="Calibri" pitchFamily="34" charset="-120"/>
              </a:rPr>
              <a:t>Auto SOS Triggered</a:t>
            </a:r>
            <a:endParaRPr lang="en-US" sz="1400" dirty="0"/>
          </a:p>
        </p:txBody>
      </p:sp>
      <p:sp>
        <p:nvSpPr>
          <p:cNvPr id="26" name="Text 21"/>
          <p:cNvSpPr/>
          <p:nvPr/>
        </p:nvSpPr>
        <p:spPr>
          <a:xfrm>
            <a:off x="8083296" y="2898648"/>
            <a:ext cx="2962656" cy="777240"/>
          </a:xfrm>
          <a:prstGeom prst="rect">
            <a:avLst/>
          </a:prstGeom>
          <a:noFill/>
          <a:ln/>
        </p:spPr>
        <p:txBody>
          <a:bodyPr wrap="square" rtlCol="0" anchor="ctr"/>
          <a:lstStyle/>
          <a:p>
            <a:pPr indent="0" marL="0">
              <a:lnSpc>
                <a:spcPct val="115000"/>
              </a:lnSpc>
              <a:buNone/>
            </a:pPr>
            <a:r>
              <a:rPr lang="en-US" sz="1050" dirty="0">
                <a:solidFill>
                  <a:srgbClr val="55566B"/>
                </a:solidFill>
                <a:latin typeface="Calibri" pitchFamily="34" charset="0"/>
                <a:ea typeface="Calibri" pitchFamily="34" charset="-122"/>
                <a:cs typeface="Calibri" pitchFamily="34" charset="-120"/>
              </a:rPr>
              <a:t>GPS + medical profile sent automatically</a:t>
            </a:r>
            <a:endParaRPr lang="en-US" sz="1050" dirty="0"/>
          </a:p>
        </p:txBody>
      </p:sp>
      <p:sp>
        <p:nvSpPr>
          <p:cNvPr id="27" name="Shape 22"/>
          <p:cNvSpPr/>
          <p:nvPr/>
        </p:nvSpPr>
        <p:spPr>
          <a:xfrm>
            <a:off x="640080" y="4023360"/>
            <a:ext cx="3364992" cy="1965960"/>
          </a:xfrm>
          <a:prstGeom prst="roundRect">
            <a:avLst>
              <a:gd name="adj" fmla="val 3721"/>
            </a:avLst>
          </a:prstGeom>
          <a:solidFill>
            <a:srgbClr val="FFFFFF"/>
          </a:solidFill>
          <a:ln w="12700">
            <a:solidFill>
              <a:srgbClr val="E4E4EE"/>
            </a:solidFill>
            <a:prstDash val="solid"/>
          </a:ln>
        </p:spPr>
      </p:sp>
      <p:sp>
        <p:nvSpPr>
          <p:cNvPr id="28" name="Shape 23"/>
          <p:cNvSpPr/>
          <p:nvPr/>
        </p:nvSpPr>
        <p:spPr>
          <a:xfrm>
            <a:off x="841248" y="4224528"/>
            <a:ext cx="457200" cy="457200"/>
          </a:xfrm>
          <a:prstGeom prst="ellipse">
            <a:avLst/>
          </a:prstGeom>
          <a:solidFill>
            <a:srgbClr val="E63946"/>
          </a:solidFill>
          <a:ln/>
        </p:spPr>
      </p:sp>
      <p:sp>
        <p:nvSpPr>
          <p:cNvPr id="29" name="Text 24"/>
          <p:cNvSpPr/>
          <p:nvPr/>
        </p:nvSpPr>
        <p:spPr>
          <a:xfrm>
            <a:off x="841248" y="4224528"/>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30" name="Shape 25"/>
          <p:cNvSpPr/>
          <p:nvPr/>
        </p:nvSpPr>
        <p:spPr>
          <a:xfrm>
            <a:off x="3227832" y="4206240"/>
            <a:ext cx="502920" cy="502920"/>
          </a:xfrm>
          <a:prstGeom prst="ellipse">
            <a:avLst/>
          </a:prstGeom>
          <a:solidFill>
            <a:srgbClr val="2F80ED">
              <a:alpha val="20000"/>
            </a:srgbClr>
          </a:solidFill>
          <a:ln/>
        </p:spPr>
      </p:sp>
      <p:pic>
        <p:nvPicPr>
          <p:cNvPr id="31" name="Image 3" descr="/home/claude/roadsos_deck/icons/message.png">    </p:cNvPr>
          <p:cNvPicPr>
            <a:picLocks noChangeAspect="1"/>
          </p:cNvPicPr>
          <p:nvPr/>
        </p:nvPicPr>
        <p:blipFill>
          <a:blip r:embed="rId4"/>
          <a:stretch>
            <a:fillRect/>
          </a:stretch>
        </p:blipFill>
        <p:spPr>
          <a:xfrm>
            <a:off x="3293212" y="4271620"/>
            <a:ext cx="372161" cy="372161"/>
          </a:xfrm>
          <a:prstGeom prst="rect">
            <a:avLst/>
          </a:prstGeom>
        </p:spPr>
      </p:pic>
      <p:sp>
        <p:nvSpPr>
          <p:cNvPr id="32" name="Text 26"/>
          <p:cNvSpPr/>
          <p:nvPr/>
        </p:nvSpPr>
        <p:spPr>
          <a:xfrm>
            <a:off x="841248" y="4800600"/>
            <a:ext cx="2962656" cy="365760"/>
          </a:xfrm>
          <a:prstGeom prst="rect">
            <a:avLst/>
          </a:prstGeom>
          <a:noFill/>
          <a:ln/>
        </p:spPr>
        <p:txBody>
          <a:bodyPr wrap="square" rtlCol="0" anchor="ctr"/>
          <a:lstStyle/>
          <a:p>
            <a:pPr indent="0" marL="0">
              <a:buNone/>
            </a:pPr>
            <a:r>
              <a:rPr lang="en-US" sz="1400" b="1" dirty="0">
                <a:solidFill>
                  <a:srgbClr val="1B1B2E"/>
                </a:solidFill>
                <a:latin typeface="Calibri" pitchFamily="34" charset="0"/>
                <a:ea typeface="Calibri" pitchFamily="34" charset="-122"/>
                <a:cs typeface="Calibri" pitchFamily="34" charset="-120"/>
              </a:rPr>
              <a:t>Alerts Sent</a:t>
            </a:r>
            <a:endParaRPr lang="en-US" sz="1400" dirty="0"/>
          </a:p>
        </p:txBody>
      </p:sp>
      <p:sp>
        <p:nvSpPr>
          <p:cNvPr id="33" name="Text 27"/>
          <p:cNvSpPr/>
          <p:nvPr/>
        </p:nvSpPr>
        <p:spPr>
          <a:xfrm>
            <a:off x="841248" y="5138928"/>
            <a:ext cx="2962656" cy="777240"/>
          </a:xfrm>
          <a:prstGeom prst="rect">
            <a:avLst/>
          </a:prstGeom>
          <a:noFill/>
          <a:ln/>
        </p:spPr>
        <p:txBody>
          <a:bodyPr wrap="square" rtlCol="0" anchor="ctr"/>
          <a:lstStyle/>
          <a:p>
            <a:pPr indent="0" marL="0">
              <a:lnSpc>
                <a:spcPct val="115000"/>
              </a:lnSpc>
              <a:buNone/>
            </a:pPr>
            <a:r>
              <a:rPr lang="en-US" sz="1050" dirty="0">
                <a:solidFill>
                  <a:srgbClr val="55566B"/>
                </a:solidFill>
                <a:latin typeface="Calibri" pitchFamily="34" charset="0"/>
                <a:ea typeface="Calibri" pitchFamily="34" charset="-122"/>
                <a:cs typeface="Calibri" pitchFamily="34" charset="-120"/>
              </a:rPr>
              <a:t>SMS, WhatsApp &amp; calls reach contacts</a:t>
            </a:r>
            <a:endParaRPr lang="en-US" sz="1050" dirty="0"/>
          </a:p>
        </p:txBody>
      </p:sp>
      <p:sp>
        <p:nvSpPr>
          <p:cNvPr id="34" name="Text 28"/>
          <p:cNvSpPr/>
          <p:nvPr/>
        </p:nvSpPr>
        <p:spPr>
          <a:xfrm>
            <a:off x="3986784" y="4777740"/>
            <a:ext cx="292608" cy="457200"/>
          </a:xfrm>
          <a:prstGeom prst="rect">
            <a:avLst/>
          </a:prstGeom>
          <a:noFill/>
          <a:ln/>
        </p:spPr>
        <p:txBody>
          <a:bodyPr wrap="square" rtlCol="0" anchor="ctr"/>
          <a:lstStyle/>
          <a:p>
            <a:pPr algn="ctr" indent="0" marL="0">
              <a:buNone/>
            </a:pPr>
            <a:r>
              <a:rPr lang="en-US" sz="2000" b="1" dirty="0">
                <a:solidFill>
                  <a:srgbClr val="C7C9DA"/>
                </a:solidFill>
                <a:latin typeface="Calibri" pitchFamily="34" charset="0"/>
                <a:ea typeface="Calibri" pitchFamily="34" charset="-122"/>
                <a:cs typeface="Calibri" pitchFamily="34" charset="-120"/>
              </a:rPr>
              <a:t>→</a:t>
            </a:r>
            <a:endParaRPr lang="en-US" sz="2000" dirty="0"/>
          </a:p>
        </p:txBody>
      </p:sp>
      <p:sp>
        <p:nvSpPr>
          <p:cNvPr id="35" name="Shape 29"/>
          <p:cNvSpPr/>
          <p:nvPr/>
        </p:nvSpPr>
        <p:spPr>
          <a:xfrm>
            <a:off x="4261104" y="4023360"/>
            <a:ext cx="3364992" cy="1965960"/>
          </a:xfrm>
          <a:prstGeom prst="roundRect">
            <a:avLst>
              <a:gd name="adj" fmla="val 3721"/>
            </a:avLst>
          </a:prstGeom>
          <a:solidFill>
            <a:srgbClr val="FFFFFF"/>
          </a:solidFill>
          <a:ln w="12700">
            <a:solidFill>
              <a:srgbClr val="E4E4EE"/>
            </a:solidFill>
            <a:prstDash val="solid"/>
          </a:ln>
        </p:spPr>
      </p:sp>
      <p:sp>
        <p:nvSpPr>
          <p:cNvPr id="36" name="Shape 30"/>
          <p:cNvSpPr/>
          <p:nvPr/>
        </p:nvSpPr>
        <p:spPr>
          <a:xfrm>
            <a:off x="4462272" y="4224528"/>
            <a:ext cx="457200" cy="457200"/>
          </a:xfrm>
          <a:prstGeom prst="ellipse">
            <a:avLst/>
          </a:prstGeom>
          <a:solidFill>
            <a:srgbClr val="E63946"/>
          </a:solidFill>
          <a:ln/>
        </p:spPr>
      </p:sp>
      <p:sp>
        <p:nvSpPr>
          <p:cNvPr id="37" name="Text 31"/>
          <p:cNvSpPr/>
          <p:nvPr/>
        </p:nvSpPr>
        <p:spPr>
          <a:xfrm>
            <a:off x="4462272" y="4224528"/>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38" name="Shape 32"/>
          <p:cNvSpPr/>
          <p:nvPr/>
        </p:nvSpPr>
        <p:spPr>
          <a:xfrm>
            <a:off x="6848856" y="4206240"/>
            <a:ext cx="502920" cy="502920"/>
          </a:xfrm>
          <a:prstGeom prst="ellipse">
            <a:avLst/>
          </a:prstGeom>
          <a:solidFill>
            <a:srgbClr val="2F80ED">
              <a:alpha val="20000"/>
            </a:srgbClr>
          </a:solidFill>
          <a:ln/>
        </p:spPr>
      </p:sp>
      <p:pic>
        <p:nvPicPr>
          <p:cNvPr id="39" name="Image 4" descr="/home/claude/roadsos_deck/icons/heart.png">    </p:cNvPr>
          <p:cNvPicPr>
            <a:picLocks noChangeAspect="1"/>
          </p:cNvPicPr>
          <p:nvPr/>
        </p:nvPicPr>
        <p:blipFill>
          <a:blip r:embed="rId5"/>
          <a:stretch>
            <a:fillRect/>
          </a:stretch>
        </p:blipFill>
        <p:spPr>
          <a:xfrm>
            <a:off x="6914236" y="4271620"/>
            <a:ext cx="372161" cy="372161"/>
          </a:xfrm>
          <a:prstGeom prst="rect">
            <a:avLst/>
          </a:prstGeom>
        </p:spPr>
      </p:pic>
      <p:sp>
        <p:nvSpPr>
          <p:cNvPr id="40" name="Text 33"/>
          <p:cNvSpPr/>
          <p:nvPr/>
        </p:nvSpPr>
        <p:spPr>
          <a:xfrm>
            <a:off x="4462272" y="4800600"/>
            <a:ext cx="2962656" cy="365760"/>
          </a:xfrm>
          <a:prstGeom prst="rect">
            <a:avLst/>
          </a:prstGeom>
          <a:noFill/>
          <a:ln/>
        </p:spPr>
        <p:txBody>
          <a:bodyPr wrap="square" rtlCol="0" anchor="ctr"/>
          <a:lstStyle/>
          <a:p>
            <a:pPr indent="0" marL="0">
              <a:buNone/>
            </a:pPr>
            <a:r>
              <a:rPr lang="en-US" sz="1400" b="1" dirty="0">
                <a:solidFill>
                  <a:srgbClr val="1B1B2E"/>
                </a:solidFill>
                <a:latin typeface="Calibri" pitchFamily="34" charset="0"/>
                <a:ea typeface="Calibri" pitchFamily="34" charset="-122"/>
                <a:cs typeface="Calibri" pitchFamily="34" charset="-120"/>
              </a:rPr>
              <a:t>AI First-Aid Guidance</a:t>
            </a:r>
            <a:endParaRPr lang="en-US" sz="1400" dirty="0"/>
          </a:p>
        </p:txBody>
      </p:sp>
      <p:sp>
        <p:nvSpPr>
          <p:cNvPr id="41" name="Text 34"/>
          <p:cNvSpPr/>
          <p:nvPr/>
        </p:nvSpPr>
        <p:spPr>
          <a:xfrm>
            <a:off x="4462272" y="5138928"/>
            <a:ext cx="2962656" cy="777240"/>
          </a:xfrm>
          <a:prstGeom prst="rect">
            <a:avLst/>
          </a:prstGeom>
          <a:noFill/>
          <a:ln/>
        </p:spPr>
        <p:txBody>
          <a:bodyPr wrap="square" rtlCol="0" anchor="ctr"/>
          <a:lstStyle/>
          <a:p>
            <a:pPr indent="0" marL="0">
              <a:lnSpc>
                <a:spcPct val="115000"/>
              </a:lnSpc>
              <a:buNone/>
            </a:pPr>
            <a:r>
              <a:rPr lang="en-US" sz="1050" dirty="0">
                <a:solidFill>
                  <a:srgbClr val="55566B"/>
                </a:solidFill>
                <a:latin typeface="Calibri" pitchFamily="34" charset="0"/>
                <a:ea typeface="Calibri" pitchFamily="34" charset="-122"/>
                <a:cs typeface="Calibri" pitchFamily="34" charset="-120"/>
              </a:rPr>
              <a:t>Live guidance for bystanders on scene</a:t>
            </a:r>
            <a:endParaRPr lang="en-US" sz="1050" dirty="0"/>
          </a:p>
        </p:txBody>
      </p:sp>
      <p:sp>
        <p:nvSpPr>
          <p:cNvPr id="42" name="Text 35"/>
          <p:cNvSpPr/>
          <p:nvPr/>
        </p:nvSpPr>
        <p:spPr>
          <a:xfrm>
            <a:off x="7607808" y="4777740"/>
            <a:ext cx="292608" cy="457200"/>
          </a:xfrm>
          <a:prstGeom prst="rect">
            <a:avLst/>
          </a:prstGeom>
          <a:noFill/>
          <a:ln/>
        </p:spPr>
        <p:txBody>
          <a:bodyPr wrap="square" rtlCol="0" anchor="ctr"/>
          <a:lstStyle/>
          <a:p>
            <a:pPr algn="ctr" indent="0" marL="0">
              <a:buNone/>
            </a:pPr>
            <a:r>
              <a:rPr lang="en-US" sz="2000" b="1" dirty="0">
                <a:solidFill>
                  <a:srgbClr val="C7C9DA"/>
                </a:solidFill>
                <a:latin typeface="Calibri" pitchFamily="34" charset="0"/>
                <a:ea typeface="Calibri" pitchFamily="34" charset="-122"/>
                <a:cs typeface="Calibri" pitchFamily="34" charset="-120"/>
              </a:rPr>
              <a:t>→</a:t>
            </a:r>
            <a:endParaRPr lang="en-US" sz="2000" dirty="0"/>
          </a:p>
        </p:txBody>
      </p:sp>
      <p:sp>
        <p:nvSpPr>
          <p:cNvPr id="43" name="Shape 36"/>
          <p:cNvSpPr/>
          <p:nvPr/>
        </p:nvSpPr>
        <p:spPr>
          <a:xfrm>
            <a:off x="7882128" y="4023360"/>
            <a:ext cx="3364992" cy="1965960"/>
          </a:xfrm>
          <a:prstGeom prst="roundRect">
            <a:avLst>
              <a:gd name="adj" fmla="val 3721"/>
            </a:avLst>
          </a:prstGeom>
          <a:solidFill>
            <a:srgbClr val="FFFFFF"/>
          </a:solidFill>
          <a:ln w="12700">
            <a:solidFill>
              <a:srgbClr val="E4E4EE"/>
            </a:solidFill>
            <a:prstDash val="solid"/>
          </a:ln>
        </p:spPr>
      </p:sp>
      <p:sp>
        <p:nvSpPr>
          <p:cNvPr id="44" name="Shape 37"/>
          <p:cNvSpPr/>
          <p:nvPr/>
        </p:nvSpPr>
        <p:spPr>
          <a:xfrm>
            <a:off x="8083296" y="4224528"/>
            <a:ext cx="457200" cy="457200"/>
          </a:xfrm>
          <a:prstGeom prst="ellipse">
            <a:avLst/>
          </a:prstGeom>
          <a:solidFill>
            <a:srgbClr val="E63946"/>
          </a:solidFill>
          <a:ln/>
        </p:spPr>
      </p:sp>
      <p:sp>
        <p:nvSpPr>
          <p:cNvPr id="45" name="Text 38"/>
          <p:cNvSpPr/>
          <p:nvPr/>
        </p:nvSpPr>
        <p:spPr>
          <a:xfrm>
            <a:off x="8083296" y="4224528"/>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46" name="Shape 39"/>
          <p:cNvSpPr/>
          <p:nvPr/>
        </p:nvSpPr>
        <p:spPr>
          <a:xfrm>
            <a:off x="10469880" y="4206240"/>
            <a:ext cx="502920" cy="502920"/>
          </a:xfrm>
          <a:prstGeom prst="ellipse">
            <a:avLst/>
          </a:prstGeom>
          <a:solidFill>
            <a:srgbClr val="2F80ED">
              <a:alpha val="20000"/>
            </a:srgbClr>
          </a:solidFill>
          <a:ln/>
        </p:spPr>
      </p:sp>
      <p:pic>
        <p:nvPicPr>
          <p:cNvPr id="47" name="Image 5" descr="/home/claude/roadsos_deck/icons/map_pin.png">    </p:cNvPr>
          <p:cNvPicPr>
            <a:picLocks noChangeAspect="1"/>
          </p:cNvPicPr>
          <p:nvPr/>
        </p:nvPicPr>
        <p:blipFill>
          <a:blip r:embed="rId6"/>
          <a:stretch>
            <a:fillRect/>
          </a:stretch>
        </p:blipFill>
        <p:spPr>
          <a:xfrm>
            <a:off x="10535260" y="4271620"/>
            <a:ext cx="372161" cy="372161"/>
          </a:xfrm>
          <a:prstGeom prst="rect">
            <a:avLst/>
          </a:prstGeom>
        </p:spPr>
      </p:pic>
      <p:sp>
        <p:nvSpPr>
          <p:cNvPr id="48" name="Text 40"/>
          <p:cNvSpPr/>
          <p:nvPr/>
        </p:nvSpPr>
        <p:spPr>
          <a:xfrm>
            <a:off x="8083296" y="4800600"/>
            <a:ext cx="2962656" cy="365760"/>
          </a:xfrm>
          <a:prstGeom prst="rect">
            <a:avLst/>
          </a:prstGeom>
          <a:noFill/>
          <a:ln/>
        </p:spPr>
        <p:txBody>
          <a:bodyPr wrap="square" rtlCol="0" anchor="ctr"/>
          <a:lstStyle/>
          <a:p>
            <a:pPr indent="0" marL="0">
              <a:buNone/>
            </a:pPr>
            <a:r>
              <a:rPr lang="en-US" sz="1400" b="1" dirty="0">
                <a:solidFill>
                  <a:srgbClr val="1B1B2E"/>
                </a:solidFill>
                <a:latin typeface="Calibri" pitchFamily="34" charset="0"/>
                <a:ea typeface="Calibri" pitchFamily="34" charset="-122"/>
                <a:cs typeface="Calibri" pitchFamily="34" charset="-120"/>
              </a:rPr>
              <a:t>Live Tracking Continues</a:t>
            </a:r>
            <a:endParaRPr lang="en-US" sz="1400" dirty="0"/>
          </a:p>
        </p:txBody>
      </p:sp>
      <p:sp>
        <p:nvSpPr>
          <p:cNvPr id="49" name="Text 41"/>
          <p:cNvSpPr/>
          <p:nvPr/>
        </p:nvSpPr>
        <p:spPr>
          <a:xfrm>
            <a:off x="8083296" y="5138928"/>
            <a:ext cx="2962656" cy="777240"/>
          </a:xfrm>
          <a:prstGeom prst="rect">
            <a:avLst/>
          </a:prstGeom>
          <a:noFill/>
          <a:ln/>
        </p:spPr>
        <p:txBody>
          <a:bodyPr wrap="square" rtlCol="0" anchor="ctr"/>
          <a:lstStyle/>
          <a:p>
            <a:pPr indent="0" marL="0">
              <a:lnSpc>
                <a:spcPct val="115000"/>
              </a:lnSpc>
              <a:buNone/>
            </a:pPr>
            <a:r>
              <a:rPr lang="en-US" sz="1050" dirty="0">
                <a:solidFill>
                  <a:srgbClr val="55566B"/>
                </a:solidFill>
                <a:latin typeface="Calibri" pitchFamily="34" charset="0"/>
                <a:ea typeface="Calibri" pitchFamily="34" charset="-122"/>
                <a:cs typeface="Calibri" pitchFamily="34" charset="-120"/>
              </a:rPr>
              <a:t>Location updates until help arrives</a:t>
            </a:r>
            <a:endParaRPr lang="en-US" sz="1050" dirty="0"/>
          </a:p>
        </p:txBody>
      </p:sp>
      <p:sp>
        <p:nvSpPr>
          <p:cNvPr id="50" name="Text 42"/>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7D7F99"/>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41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300" b="1" spc="200" kern="0" dirty="0">
                <a:solidFill>
                  <a:srgbClr val="F4B942"/>
                </a:solidFill>
                <a:latin typeface="Calibri" pitchFamily="34" charset="0"/>
                <a:ea typeface="Calibri" pitchFamily="34" charset="-122"/>
                <a:cs typeface="Calibri" pitchFamily="34" charset="-120"/>
              </a:rPr>
              <a:t>FAIL-SAFE BY DESIGN</a:t>
            </a:r>
            <a:endParaRPr lang="en-US" sz="1300" dirty="0"/>
          </a:p>
        </p:txBody>
      </p:sp>
      <p:sp>
        <p:nvSpPr>
          <p:cNvPr id="3" name="Text 1"/>
          <p:cNvSpPr/>
          <p:nvPr/>
        </p:nvSpPr>
        <p:spPr>
          <a:xfrm>
            <a:off x="640080" y="777240"/>
            <a:ext cx="10789920" cy="6858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3-Layer Protection System</a:t>
            </a:r>
            <a:endParaRPr lang="en-US" sz="3200" dirty="0"/>
          </a:p>
        </p:txBody>
      </p:sp>
      <p:sp>
        <p:nvSpPr>
          <p:cNvPr id="4" name="Text 2"/>
          <p:cNvSpPr/>
          <p:nvPr/>
        </p:nvSpPr>
        <p:spPr>
          <a:xfrm>
            <a:off x="640080" y="1417320"/>
            <a:ext cx="10058400" cy="457200"/>
          </a:xfrm>
          <a:prstGeom prst="rect">
            <a:avLst/>
          </a:prstGeom>
          <a:noFill/>
          <a:ln/>
        </p:spPr>
        <p:txBody>
          <a:bodyPr wrap="square" rtlCol="0" anchor="ctr"/>
          <a:lstStyle/>
          <a:p>
            <a:pPr indent="0" marL="0">
              <a:buNone/>
            </a:pPr>
            <a:r>
              <a:rPr lang="en-US" sz="1400" i="1" dirty="0">
                <a:solidFill>
                  <a:srgbClr val="A7A9BE"/>
                </a:solidFill>
                <a:latin typeface="Calibri" pitchFamily="34" charset="0"/>
                <a:ea typeface="Calibri" pitchFamily="34" charset="-122"/>
                <a:cs typeface="Calibri" pitchFamily="34" charset="-120"/>
              </a:rPr>
              <a:t>Three independent ways to trigger help — so there is never just one point of failure.</a:t>
            </a:r>
            <a:endParaRPr lang="en-US" sz="1400" dirty="0"/>
          </a:p>
        </p:txBody>
      </p:sp>
      <p:sp>
        <p:nvSpPr>
          <p:cNvPr id="5" name="Shape 3"/>
          <p:cNvSpPr/>
          <p:nvPr/>
        </p:nvSpPr>
        <p:spPr>
          <a:xfrm>
            <a:off x="640080" y="2194560"/>
            <a:ext cx="3410712" cy="3383280"/>
          </a:xfrm>
          <a:prstGeom prst="roundRect">
            <a:avLst>
              <a:gd name="adj" fmla="val 2432"/>
            </a:avLst>
          </a:prstGeom>
          <a:solidFill>
            <a:srgbClr val="1E1E33"/>
          </a:solidFill>
          <a:ln w="15875">
            <a:solidFill>
              <a:srgbClr val="E63946"/>
            </a:solidFill>
            <a:prstDash val="solid"/>
          </a:ln>
        </p:spPr>
      </p:sp>
      <p:sp>
        <p:nvSpPr>
          <p:cNvPr id="6" name="Shape 4"/>
          <p:cNvSpPr/>
          <p:nvPr/>
        </p:nvSpPr>
        <p:spPr>
          <a:xfrm>
            <a:off x="1888236" y="2560320"/>
            <a:ext cx="914400" cy="914400"/>
          </a:xfrm>
          <a:prstGeom prst="ellipse">
            <a:avLst/>
          </a:prstGeom>
          <a:solidFill>
            <a:srgbClr val="E63946"/>
          </a:solidFill>
          <a:ln/>
        </p:spPr>
      </p:sp>
      <p:pic>
        <p:nvPicPr>
          <p:cNvPr id="7" name="Image 0" descr="/home/claude/roadsos_deck/icons/activity.png">    </p:cNvPr>
          <p:cNvPicPr>
            <a:picLocks noChangeAspect="1"/>
          </p:cNvPicPr>
          <p:nvPr/>
        </p:nvPicPr>
        <p:blipFill>
          <a:blip r:embed="rId1"/>
          <a:stretch>
            <a:fillRect/>
          </a:stretch>
        </p:blipFill>
        <p:spPr>
          <a:xfrm>
            <a:off x="2007108" y="2679192"/>
            <a:ext cx="676656" cy="676656"/>
          </a:xfrm>
          <a:prstGeom prst="rect">
            <a:avLst/>
          </a:prstGeom>
        </p:spPr>
      </p:pic>
      <p:sp>
        <p:nvSpPr>
          <p:cNvPr id="8" name="Text 5"/>
          <p:cNvSpPr/>
          <p:nvPr/>
        </p:nvSpPr>
        <p:spPr>
          <a:xfrm>
            <a:off x="640080" y="3611880"/>
            <a:ext cx="3410712" cy="320040"/>
          </a:xfrm>
          <a:prstGeom prst="rect">
            <a:avLst/>
          </a:prstGeom>
          <a:noFill/>
          <a:ln/>
        </p:spPr>
        <p:txBody>
          <a:bodyPr wrap="square" rtlCol="0" anchor="ctr"/>
          <a:lstStyle/>
          <a:p>
            <a:pPr algn="ctr" indent="0" marL="0">
              <a:buNone/>
            </a:pPr>
            <a:r>
              <a:rPr lang="en-US" sz="1100" b="1" spc="200" kern="0" dirty="0">
                <a:solidFill>
                  <a:srgbClr val="E63946"/>
                </a:solidFill>
                <a:latin typeface="Calibri" pitchFamily="34" charset="0"/>
                <a:ea typeface="Calibri" pitchFamily="34" charset="-122"/>
                <a:cs typeface="Calibri" pitchFamily="34" charset="-120"/>
              </a:rPr>
              <a:t>LAYER 1</a:t>
            </a:r>
            <a:endParaRPr lang="en-US" sz="1100" dirty="0"/>
          </a:p>
        </p:txBody>
      </p:sp>
      <p:sp>
        <p:nvSpPr>
          <p:cNvPr id="9" name="Text 6"/>
          <p:cNvSpPr/>
          <p:nvPr/>
        </p:nvSpPr>
        <p:spPr>
          <a:xfrm>
            <a:off x="868680" y="3977640"/>
            <a:ext cx="2953512" cy="594360"/>
          </a:xfrm>
          <a:prstGeom prst="rect">
            <a:avLst/>
          </a:prstGeom>
          <a:noFill/>
          <a:ln/>
        </p:spPr>
        <p:txBody>
          <a:bodyPr wrap="square"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Automatic Crash Detection</a:t>
            </a:r>
            <a:endParaRPr lang="en-US" sz="1700" dirty="0"/>
          </a:p>
        </p:txBody>
      </p:sp>
      <p:sp>
        <p:nvSpPr>
          <p:cNvPr id="10" name="Text 7"/>
          <p:cNvSpPr/>
          <p:nvPr/>
        </p:nvSpPr>
        <p:spPr>
          <a:xfrm>
            <a:off x="914400" y="4617720"/>
            <a:ext cx="2862072" cy="868680"/>
          </a:xfrm>
          <a:prstGeom prst="rect">
            <a:avLst/>
          </a:prstGeom>
          <a:noFill/>
          <a:ln/>
        </p:spPr>
        <p:txBody>
          <a:bodyPr wrap="square" rtlCol="0" anchor="ctr"/>
          <a:lstStyle/>
          <a:p>
            <a:pPr algn="ctr" indent="0" marL="0">
              <a:lnSpc>
                <a:spcPct val="120000"/>
              </a:lnSpc>
              <a:buNone/>
            </a:pPr>
            <a:r>
              <a:rPr lang="en-US" sz="1100" dirty="0">
                <a:solidFill>
                  <a:srgbClr val="A7A9BE"/>
                </a:solidFill>
                <a:latin typeface="Calibri" pitchFamily="34" charset="0"/>
                <a:ea typeface="Calibri" pitchFamily="34" charset="-122"/>
                <a:cs typeface="Calibri" pitchFamily="34" charset="-120"/>
              </a:rPr>
              <a:t>Sensor-fusion detects impact and triggers SOS on its own — works even if the victim is unconscious.</a:t>
            </a:r>
            <a:endParaRPr lang="en-US" sz="1100" dirty="0"/>
          </a:p>
        </p:txBody>
      </p:sp>
      <p:sp>
        <p:nvSpPr>
          <p:cNvPr id="11" name="Shape 8"/>
          <p:cNvSpPr/>
          <p:nvPr/>
        </p:nvSpPr>
        <p:spPr>
          <a:xfrm>
            <a:off x="4325112" y="2194560"/>
            <a:ext cx="3410712" cy="3383280"/>
          </a:xfrm>
          <a:prstGeom prst="roundRect">
            <a:avLst>
              <a:gd name="adj" fmla="val 2432"/>
            </a:avLst>
          </a:prstGeom>
          <a:solidFill>
            <a:srgbClr val="1E1E33"/>
          </a:solidFill>
          <a:ln w="15875">
            <a:solidFill>
              <a:srgbClr val="2F80ED"/>
            </a:solidFill>
            <a:prstDash val="solid"/>
          </a:ln>
        </p:spPr>
      </p:sp>
      <p:sp>
        <p:nvSpPr>
          <p:cNvPr id="12" name="Shape 9"/>
          <p:cNvSpPr/>
          <p:nvPr/>
        </p:nvSpPr>
        <p:spPr>
          <a:xfrm>
            <a:off x="5573268" y="2560320"/>
            <a:ext cx="914400" cy="914400"/>
          </a:xfrm>
          <a:prstGeom prst="ellipse">
            <a:avLst/>
          </a:prstGeom>
          <a:solidFill>
            <a:srgbClr val="2F80ED"/>
          </a:solidFill>
          <a:ln/>
        </p:spPr>
      </p:sp>
      <p:pic>
        <p:nvPicPr>
          <p:cNvPr id="13" name="Image 1" descr="/home/claude/roadsos_deck/icons/mic.png">    </p:cNvPr>
          <p:cNvPicPr>
            <a:picLocks noChangeAspect="1"/>
          </p:cNvPicPr>
          <p:nvPr/>
        </p:nvPicPr>
        <p:blipFill>
          <a:blip r:embed="rId2"/>
          <a:stretch>
            <a:fillRect/>
          </a:stretch>
        </p:blipFill>
        <p:spPr>
          <a:xfrm>
            <a:off x="5692140" y="2679192"/>
            <a:ext cx="676656" cy="676656"/>
          </a:xfrm>
          <a:prstGeom prst="rect">
            <a:avLst/>
          </a:prstGeom>
        </p:spPr>
      </p:pic>
      <p:sp>
        <p:nvSpPr>
          <p:cNvPr id="14" name="Text 10"/>
          <p:cNvSpPr/>
          <p:nvPr/>
        </p:nvSpPr>
        <p:spPr>
          <a:xfrm>
            <a:off x="4325112" y="3611880"/>
            <a:ext cx="3410712" cy="320040"/>
          </a:xfrm>
          <a:prstGeom prst="rect">
            <a:avLst/>
          </a:prstGeom>
          <a:noFill/>
          <a:ln/>
        </p:spPr>
        <p:txBody>
          <a:bodyPr wrap="square" rtlCol="0" anchor="ctr"/>
          <a:lstStyle/>
          <a:p>
            <a:pPr algn="ctr" indent="0" marL="0">
              <a:buNone/>
            </a:pPr>
            <a:r>
              <a:rPr lang="en-US" sz="1100" b="1" spc="200" kern="0" dirty="0">
                <a:solidFill>
                  <a:srgbClr val="2F80ED"/>
                </a:solidFill>
                <a:latin typeface="Calibri" pitchFamily="34" charset="0"/>
                <a:ea typeface="Calibri" pitchFamily="34" charset="-122"/>
                <a:cs typeface="Calibri" pitchFamily="34" charset="-120"/>
              </a:rPr>
              <a:t>LAYER 2</a:t>
            </a:r>
            <a:endParaRPr lang="en-US" sz="1100" dirty="0"/>
          </a:p>
        </p:txBody>
      </p:sp>
      <p:sp>
        <p:nvSpPr>
          <p:cNvPr id="15" name="Text 11"/>
          <p:cNvSpPr/>
          <p:nvPr/>
        </p:nvSpPr>
        <p:spPr>
          <a:xfrm>
            <a:off x="4553712" y="3977640"/>
            <a:ext cx="2953512" cy="594360"/>
          </a:xfrm>
          <a:prstGeom prst="rect">
            <a:avLst/>
          </a:prstGeom>
          <a:noFill/>
          <a:ln/>
        </p:spPr>
        <p:txBody>
          <a:bodyPr wrap="square"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Voice-Activated SOS</a:t>
            </a:r>
            <a:endParaRPr lang="en-US" sz="1700" dirty="0"/>
          </a:p>
        </p:txBody>
      </p:sp>
      <p:sp>
        <p:nvSpPr>
          <p:cNvPr id="16" name="Text 12"/>
          <p:cNvSpPr/>
          <p:nvPr/>
        </p:nvSpPr>
        <p:spPr>
          <a:xfrm>
            <a:off x="4599432" y="4617720"/>
            <a:ext cx="2862072" cy="868680"/>
          </a:xfrm>
          <a:prstGeom prst="rect">
            <a:avLst/>
          </a:prstGeom>
          <a:noFill/>
          <a:ln/>
        </p:spPr>
        <p:txBody>
          <a:bodyPr wrap="square" rtlCol="0" anchor="ctr"/>
          <a:lstStyle/>
          <a:p>
            <a:pPr algn="ctr" indent="0" marL="0">
              <a:lnSpc>
                <a:spcPct val="120000"/>
              </a:lnSpc>
              <a:buNone/>
            </a:pPr>
            <a:r>
              <a:rPr lang="en-US" sz="1100" dirty="0">
                <a:solidFill>
                  <a:srgbClr val="A7A9BE"/>
                </a:solidFill>
                <a:latin typeface="Calibri" pitchFamily="34" charset="0"/>
                <a:ea typeface="Calibri" pitchFamily="34" charset="-122"/>
                <a:cs typeface="Calibri" pitchFamily="34" charset="-120"/>
              </a:rPr>
              <a:t>A spoken trigger phrase activates emergency mode instantly — completely hands-free.</a:t>
            </a:r>
            <a:endParaRPr lang="en-US" sz="1100" dirty="0"/>
          </a:p>
        </p:txBody>
      </p:sp>
      <p:sp>
        <p:nvSpPr>
          <p:cNvPr id="17" name="Shape 13"/>
          <p:cNvSpPr/>
          <p:nvPr/>
        </p:nvSpPr>
        <p:spPr>
          <a:xfrm>
            <a:off x="8010144" y="2194560"/>
            <a:ext cx="3410712" cy="3383280"/>
          </a:xfrm>
          <a:prstGeom prst="roundRect">
            <a:avLst>
              <a:gd name="adj" fmla="val 2432"/>
            </a:avLst>
          </a:prstGeom>
          <a:solidFill>
            <a:srgbClr val="1E1E33"/>
          </a:solidFill>
          <a:ln w="15875">
            <a:solidFill>
              <a:srgbClr val="F4B942"/>
            </a:solidFill>
            <a:prstDash val="solid"/>
          </a:ln>
        </p:spPr>
      </p:sp>
      <p:sp>
        <p:nvSpPr>
          <p:cNvPr id="18" name="Shape 14"/>
          <p:cNvSpPr/>
          <p:nvPr/>
        </p:nvSpPr>
        <p:spPr>
          <a:xfrm>
            <a:off x="9258300" y="2560320"/>
            <a:ext cx="914400" cy="914400"/>
          </a:xfrm>
          <a:prstGeom prst="ellipse">
            <a:avLst/>
          </a:prstGeom>
          <a:solidFill>
            <a:srgbClr val="F4B942"/>
          </a:solidFill>
          <a:ln/>
        </p:spPr>
      </p:sp>
      <p:pic>
        <p:nvPicPr>
          <p:cNvPr id="19" name="Image 2" descr="/home/claude/roadsos_deck/icons/hand.png">    </p:cNvPr>
          <p:cNvPicPr>
            <a:picLocks noChangeAspect="1"/>
          </p:cNvPicPr>
          <p:nvPr/>
        </p:nvPicPr>
        <p:blipFill>
          <a:blip r:embed="rId3"/>
          <a:stretch>
            <a:fillRect/>
          </a:stretch>
        </p:blipFill>
        <p:spPr>
          <a:xfrm>
            <a:off x="9377172" y="2679192"/>
            <a:ext cx="676656" cy="676656"/>
          </a:xfrm>
          <a:prstGeom prst="rect">
            <a:avLst/>
          </a:prstGeom>
        </p:spPr>
      </p:pic>
      <p:sp>
        <p:nvSpPr>
          <p:cNvPr id="20" name="Text 15"/>
          <p:cNvSpPr/>
          <p:nvPr/>
        </p:nvSpPr>
        <p:spPr>
          <a:xfrm>
            <a:off x="8010144" y="3611880"/>
            <a:ext cx="3410712" cy="320040"/>
          </a:xfrm>
          <a:prstGeom prst="rect">
            <a:avLst/>
          </a:prstGeom>
          <a:noFill/>
          <a:ln/>
        </p:spPr>
        <p:txBody>
          <a:bodyPr wrap="square" rtlCol="0" anchor="ctr"/>
          <a:lstStyle/>
          <a:p>
            <a:pPr algn="ctr" indent="0" marL="0">
              <a:buNone/>
            </a:pPr>
            <a:r>
              <a:rPr lang="en-US" sz="1100" b="1" spc="200" kern="0" dirty="0">
                <a:solidFill>
                  <a:srgbClr val="F4B942"/>
                </a:solidFill>
                <a:latin typeface="Calibri" pitchFamily="34" charset="0"/>
                <a:ea typeface="Calibri" pitchFamily="34" charset="-122"/>
                <a:cs typeface="Calibri" pitchFamily="34" charset="-120"/>
              </a:rPr>
              <a:t>LAYER 3</a:t>
            </a:r>
            <a:endParaRPr lang="en-US" sz="1100" dirty="0"/>
          </a:p>
        </p:txBody>
      </p:sp>
      <p:sp>
        <p:nvSpPr>
          <p:cNvPr id="21" name="Text 16"/>
          <p:cNvSpPr/>
          <p:nvPr/>
        </p:nvSpPr>
        <p:spPr>
          <a:xfrm>
            <a:off x="8238744" y="3977640"/>
            <a:ext cx="2953512" cy="594360"/>
          </a:xfrm>
          <a:prstGeom prst="rect">
            <a:avLst/>
          </a:prstGeom>
          <a:noFill/>
          <a:ln/>
        </p:spPr>
        <p:txBody>
          <a:bodyPr wrap="square"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Shake Gesture SOS</a:t>
            </a:r>
            <a:endParaRPr lang="en-US" sz="1700" dirty="0"/>
          </a:p>
        </p:txBody>
      </p:sp>
      <p:sp>
        <p:nvSpPr>
          <p:cNvPr id="22" name="Text 17"/>
          <p:cNvSpPr/>
          <p:nvPr/>
        </p:nvSpPr>
        <p:spPr>
          <a:xfrm>
            <a:off x="8284464" y="4617720"/>
            <a:ext cx="2862072" cy="868680"/>
          </a:xfrm>
          <a:prstGeom prst="rect">
            <a:avLst/>
          </a:prstGeom>
          <a:noFill/>
          <a:ln/>
        </p:spPr>
        <p:txBody>
          <a:bodyPr wrap="square" rtlCol="0" anchor="ctr"/>
          <a:lstStyle/>
          <a:p>
            <a:pPr algn="ctr" indent="0" marL="0">
              <a:lnSpc>
                <a:spcPct val="120000"/>
              </a:lnSpc>
              <a:buNone/>
            </a:pPr>
            <a:r>
              <a:rPr lang="en-US" sz="1100" dirty="0">
                <a:solidFill>
                  <a:srgbClr val="A7A9BE"/>
                </a:solidFill>
                <a:latin typeface="Calibri" pitchFamily="34" charset="0"/>
                <a:ea typeface="Calibri" pitchFamily="34" charset="-122"/>
                <a:cs typeface="Calibri" pitchFamily="34" charset="-120"/>
              </a:rPr>
              <a:t>A manual panic trigger — shake the phone to raise an alert in seconds.</a:t>
            </a:r>
            <a:endParaRPr lang="en-US" sz="1100" dirty="0"/>
          </a:p>
        </p:txBody>
      </p:sp>
      <p:sp>
        <p:nvSpPr>
          <p:cNvPr id="23" name="Text 18"/>
          <p:cNvSpPr/>
          <p:nvPr/>
        </p:nvSpPr>
        <p:spPr>
          <a:xfrm>
            <a:off x="640080" y="5806440"/>
            <a:ext cx="10789920" cy="457200"/>
          </a:xfrm>
          <a:prstGeom prst="rect">
            <a:avLst/>
          </a:prstGeom>
          <a:noFill/>
          <a:ln/>
        </p:spPr>
        <p:txBody>
          <a:bodyPr wrap="square" rtlCol="0" anchor="ctr"/>
          <a:lstStyle/>
          <a:p>
            <a:pPr algn="ctr" indent="0" marL="0">
              <a:buNone/>
            </a:pPr>
            <a:r>
              <a:rPr lang="en-US" sz="1400" b="1" i="1" dirty="0">
                <a:solidFill>
                  <a:srgbClr val="F2F2F7"/>
                </a:solidFill>
                <a:latin typeface="Calibri" pitchFamily="34" charset="0"/>
                <a:ea typeface="Calibri" pitchFamily="34" charset="-122"/>
                <a:cs typeface="Calibri" pitchFamily="34" charset="-120"/>
              </a:rPr>
              <a:t>Three ways to trigger help. Zero ways to be left behind.</a:t>
            </a:r>
            <a:endParaRPr lang="en-US" sz="1400" dirty="0"/>
          </a:p>
        </p:txBody>
      </p:sp>
      <p:sp>
        <p:nvSpPr>
          <p:cNvPr id="24" name="Text 19"/>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B9B9C4"/>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2F7"/>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300" b="1" spc="200" kern="0" dirty="0">
                <a:solidFill>
                  <a:srgbClr val="B32330"/>
                </a:solidFill>
                <a:latin typeface="Calibri" pitchFamily="34" charset="0"/>
                <a:ea typeface="Calibri" pitchFamily="34" charset="-122"/>
                <a:cs typeface="Calibri" pitchFamily="34" charset="-120"/>
              </a:rPr>
              <a:t>WHAT IT DOES</a:t>
            </a:r>
            <a:endParaRPr lang="en-US" sz="1300" dirty="0"/>
          </a:p>
        </p:txBody>
      </p:sp>
      <p:sp>
        <p:nvSpPr>
          <p:cNvPr id="3" name="Text 1"/>
          <p:cNvSpPr/>
          <p:nvPr/>
        </p:nvSpPr>
        <p:spPr>
          <a:xfrm>
            <a:off x="640080" y="777240"/>
            <a:ext cx="10789920" cy="685800"/>
          </a:xfrm>
          <a:prstGeom prst="rect">
            <a:avLst/>
          </a:prstGeom>
          <a:noFill/>
          <a:ln/>
        </p:spPr>
        <p:txBody>
          <a:bodyPr wrap="square" rtlCol="0" anchor="ctr"/>
          <a:lstStyle/>
          <a:p>
            <a:pPr indent="0" marL="0">
              <a:buNone/>
            </a:pPr>
            <a:r>
              <a:rPr lang="en-US" sz="3200" b="1" dirty="0">
                <a:solidFill>
                  <a:srgbClr val="1B1B2E"/>
                </a:solidFill>
                <a:latin typeface="Cambria" pitchFamily="34" charset="0"/>
                <a:ea typeface="Cambria" pitchFamily="34" charset="-122"/>
                <a:cs typeface="Cambria" pitchFamily="34" charset="-120"/>
              </a:rPr>
              <a:t>Core Features</a:t>
            </a:r>
            <a:endParaRPr lang="en-US" sz="3200" dirty="0"/>
          </a:p>
        </p:txBody>
      </p:sp>
      <p:sp>
        <p:nvSpPr>
          <p:cNvPr id="4" name="Shape 2"/>
          <p:cNvSpPr/>
          <p:nvPr/>
        </p:nvSpPr>
        <p:spPr>
          <a:xfrm>
            <a:off x="640080" y="1783080"/>
            <a:ext cx="3410712" cy="1965960"/>
          </a:xfrm>
          <a:prstGeom prst="roundRect">
            <a:avLst>
              <a:gd name="adj" fmla="val 3721"/>
            </a:avLst>
          </a:prstGeom>
          <a:solidFill>
            <a:srgbClr val="FFFFFF"/>
          </a:solidFill>
          <a:ln w="12700">
            <a:solidFill>
              <a:srgbClr val="E4E4EE"/>
            </a:solidFill>
            <a:prstDash val="solid"/>
          </a:ln>
        </p:spPr>
      </p:sp>
      <p:sp>
        <p:nvSpPr>
          <p:cNvPr id="5" name="Shape 3"/>
          <p:cNvSpPr/>
          <p:nvPr/>
        </p:nvSpPr>
        <p:spPr>
          <a:xfrm>
            <a:off x="896112" y="2039112"/>
            <a:ext cx="685800" cy="685800"/>
          </a:xfrm>
          <a:prstGeom prst="ellipse">
            <a:avLst/>
          </a:prstGeom>
          <a:solidFill>
            <a:srgbClr val="E63946"/>
          </a:solidFill>
          <a:ln/>
        </p:spPr>
      </p:sp>
      <p:pic>
        <p:nvPicPr>
          <p:cNvPr id="6" name="Image 0" descr="/home/claude/roadsos_deck/icons/activity.png">    </p:cNvPr>
          <p:cNvPicPr>
            <a:picLocks noChangeAspect="1"/>
          </p:cNvPicPr>
          <p:nvPr/>
        </p:nvPicPr>
        <p:blipFill>
          <a:blip r:embed="rId1"/>
          <a:stretch>
            <a:fillRect/>
          </a:stretch>
        </p:blipFill>
        <p:spPr>
          <a:xfrm>
            <a:off x="985266" y="2128266"/>
            <a:ext cx="507492" cy="507492"/>
          </a:xfrm>
          <a:prstGeom prst="rect">
            <a:avLst/>
          </a:prstGeom>
        </p:spPr>
      </p:pic>
      <p:sp>
        <p:nvSpPr>
          <p:cNvPr id="7" name="Text 4"/>
          <p:cNvSpPr/>
          <p:nvPr/>
        </p:nvSpPr>
        <p:spPr>
          <a:xfrm>
            <a:off x="896112" y="2834640"/>
            <a:ext cx="2898648" cy="457200"/>
          </a:xfrm>
          <a:prstGeom prst="rect">
            <a:avLst/>
          </a:prstGeom>
          <a:noFill/>
          <a:ln/>
        </p:spPr>
        <p:txBody>
          <a:bodyPr wrap="square" rtlCol="0" anchor="ctr"/>
          <a:lstStyle/>
          <a:p>
            <a:pPr indent="0" marL="0">
              <a:buNone/>
            </a:pPr>
            <a:r>
              <a:rPr lang="en-US" sz="1350" b="1" dirty="0">
                <a:solidFill>
                  <a:srgbClr val="1B1B2E"/>
                </a:solidFill>
                <a:latin typeface="Calibri" pitchFamily="34" charset="0"/>
                <a:ea typeface="Calibri" pitchFamily="34" charset="-122"/>
                <a:cs typeface="Calibri" pitchFamily="34" charset="-120"/>
              </a:rPr>
              <a:t>Automatic Crash Detection</a:t>
            </a:r>
            <a:endParaRPr lang="en-US" sz="1350" dirty="0"/>
          </a:p>
        </p:txBody>
      </p:sp>
      <p:sp>
        <p:nvSpPr>
          <p:cNvPr id="8" name="Text 5"/>
          <p:cNvSpPr/>
          <p:nvPr/>
        </p:nvSpPr>
        <p:spPr>
          <a:xfrm>
            <a:off x="896112" y="3246120"/>
            <a:ext cx="2898648" cy="457200"/>
          </a:xfrm>
          <a:prstGeom prst="rect">
            <a:avLst/>
          </a:prstGeom>
          <a:noFill/>
          <a:ln/>
        </p:spPr>
        <p:txBody>
          <a:bodyPr wrap="square" rtlCol="0" anchor="ctr"/>
          <a:lstStyle/>
          <a:p>
            <a:pPr indent="0" marL="0">
              <a:lnSpc>
                <a:spcPct val="115000"/>
              </a:lnSpc>
              <a:buNone/>
            </a:pPr>
            <a:r>
              <a:rPr lang="en-US" sz="1050" dirty="0">
                <a:solidFill>
                  <a:srgbClr val="55566B"/>
                </a:solidFill>
                <a:latin typeface="Calibri" pitchFamily="34" charset="0"/>
                <a:ea typeface="Calibri" pitchFamily="34" charset="-122"/>
                <a:cs typeface="Calibri" pitchFamily="34" charset="-120"/>
              </a:rPr>
              <a:t>Sensors identify real accidents instantly</a:t>
            </a:r>
            <a:endParaRPr lang="en-US" sz="1050" dirty="0"/>
          </a:p>
        </p:txBody>
      </p:sp>
      <p:sp>
        <p:nvSpPr>
          <p:cNvPr id="9" name="Shape 6"/>
          <p:cNvSpPr/>
          <p:nvPr/>
        </p:nvSpPr>
        <p:spPr>
          <a:xfrm>
            <a:off x="4325112" y="1783080"/>
            <a:ext cx="3410712" cy="1965960"/>
          </a:xfrm>
          <a:prstGeom prst="roundRect">
            <a:avLst>
              <a:gd name="adj" fmla="val 3721"/>
            </a:avLst>
          </a:prstGeom>
          <a:solidFill>
            <a:srgbClr val="FFFFFF"/>
          </a:solidFill>
          <a:ln w="12700">
            <a:solidFill>
              <a:srgbClr val="E4E4EE"/>
            </a:solidFill>
            <a:prstDash val="solid"/>
          </a:ln>
        </p:spPr>
      </p:sp>
      <p:sp>
        <p:nvSpPr>
          <p:cNvPr id="10" name="Shape 7"/>
          <p:cNvSpPr/>
          <p:nvPr/>
        </p:nvSpPr>
        <p:spPr>
          <a:xfrm>
            <a:off x="4581144" y="2039112"/>
            <a:ext cx="685800" cy="685800"/>
          </a:xfrm>
          <a:prstGeom prst="ellipse">
            <a:avLst/>
          </a:prstGeom>
          <a:solidFill>
            <a:srgbClr val="E63946"/>
          </a:solidFill>
          <a:ln/>
        </p:spPr>
      </p:sp>
      <p:pic>
        <p:nvPicPr>
          <p:cNvPr id="11" name="Image 1" descr="/home/claude/roadsos_deck/icons/map_pin.png">    </p:cNvPr>
          <p:cNvPicPr>
            <a:picLocks noChangeAspect="1"/>
          </p:cNvPicPr>
          <p:nvPr/>
        </p:nvPicPr>
        <p:blipFill>
          <a:blip r:embed="rId2"/>
          <a:stretch>
            <a:fillRect/>
          </a:stretch>
        </p:blipFill>
        <p:spPr>
          <a:xfrm>
            <a:off x="4670298" y="2128266"/>
            <a:ext cx="507492" cy="507492"/>
          </a:xfrm>
          <a:prstGeom prst="rect">
            <a:avLst/>
          </a:prstGeom>
        </p:spPr>
      </p:pic>
      <p:sp>
        <p:nvSpPr>
          <p:cNvPr id="12" name="Text 8"/>
          <p:cNvSpPr/>
          <p:nvPr/>
        </p:nvSpPr>
        <p:spPr>
          <a:xfrm>
            <a:off x="4581144" y="2834640"/>
            <a:ext cx="2898648" cy="457200"/>
          </a:xfrm>
          <a:prstGeom prst="rect">
            <a:avLst/>
          </a:prstGeom>
          <a:noFill/>
          <a:ln/>
        </p:spPr>
        <p:txBody>
          <a:bodyPr wrap="square" rtlCol="0" anchor="ctr"/>
          <a:lstStyle/>
          <a:p>
            <a:pPr indent="0" marL="0">
              <a:buNone/>
            </a:pPr>
            <a:r>
              <a:rPr lang="en-US" sz="1350" b="1" dirty="0">
                <a:solidFill>
                  <a:srgbClr val="1B1B2E"/>
                </a:solidFill>
                <a:latin typeface="Calibri" pitchFamily="34" charset="0"/>
                <a:ea typeface="Calibri" pitchFamily="34" charset="-122"/>
                <a:cs typeface="Calibri" pitchFamily="34" charset="-120"/>
              </a:rPr>
              <a:t>Live GPS Tracking &amp; Sharing</a:t>
            </a:r>
            <a:endParaRPr lang="en-US" sz="1350" dirty="0"/>
          </a:p>
        </p:txBody>
      </p:sp>
      <p:sp>
        <p:nvSpPr>
          <p:cNvPr id="13" name="Text 9"/>
          <p:cNvSpPr/>
          <p:nvPr/>
        </p:nvSpPr>
        <p:spPr>
          <a:xfrm>
            <a:off x="4581144" y="3246120"/>
            <a:ext cx="2898648" cy="457200"/>
          </a:xfrm>
          <a:prstGeom prst="rect">
            <a:avLst/>
          </a:prstGeom>
          <a:noFill/>
          <a:ln/>
        </p:spPr>
        <p:txBody>
          <a:bodyPr wrap="square" rtlCol="0" anchor="ctr"/>
          <a:lstStyle/>
          <a:p>
            <a:pPr indent="0" marL="0">
              <a:lnSpc>
                <a:spcPct val="115000"/>
              </a:lnSpc>
              <a:buNone/>
            </a:pPr>
            <a:r>
              <a:rPr lang="en-US" sz="1050" dirty="0">
                <a:solidFill>
                  <a:srgbClr val="55566B"/>
                </a:solidFill>
                <a:latin typeface="Calibri" pitchFamily="34" charset="0"/>
                <a:ea typeface="Calibri" pitchFamily="34" charset="-122"/>
                <a:cs typeface="Calibri" pitchFamily="34" charset="-120"/>
              </a:rPr>
              <a:t>Location shared with contacts &amp; responders</a:t>
            </a:r>
            <a:endParaRPr lang="en-US" sz="1050" dirty="0"/>
          </a:p>
        </p:txBody>
      </p:sp>
      <p:sp>
        <p:nvSpPr>
          <p:cNvPr id="14" name="Shape 10"/>
          <p:cNvSpPr/>
          <p:nvPr/>
        </p:nvSpPr>
        <p:spPr>
          <a:xfrm>
            <a:off x="8010144" y="1783080"/>
            <a:ext cx="3410712" cy="1965960"/>
          </a:xfrm>
          <a:prstGeom prst="roundRect">
            <a:avLst>
              <a:gd name="adj" fmla="val 3721"/>
            </a:avLst>
          </a:prstGeom>
          <a:solidFill>
            <a:srgbClr val="FFFFFF"/>
          </a:solidFill>
          <a:ln w="12700">
            <a:solidFill>
              <a:srgbClr val="E4E4EE"/>
            </a:solidFill>
            <a:prstDash val="solid"/>
          </a:ln>
        </p:spPr>
      </p:sp>
      <p:sp>
        <p:nvSpPr>
          <p:cNvPr id="15" name="Shape 11"/>
          <p:cNvSpPr/>
          <p:nvPr/>
        </p:nvSpPr>
        <p:spPr>
          <a:xfrm>
            <a:off x="8266176" y="2039112"/>
            <a:ext cx="685800" cy="685800"/>
          </a:xfrm>
          <a:prstGeom prst="ellipse">
            <a:avLst/>
          </a:prstGeom>
          <a:solidFill>
            <a:srgbClr val="E63946"/>
          </a:solidFill>
          <a:ln/>
        </p:spPr>
      </p:sp>
      <p:pic>
        <p:nvPicPr>
          <p:cNvPr id="16" name="Image 2" descr="/home/claude/roadsos_deck/icons/message.png">    </p:cNvPr>
          <p:cNvPicPr>
            <a:picLocks noChangeAspect="1"/>
          </p:cNvPicPr>
          <p:nvPr/>
        </p:nvPicPr>
        <p:blipFill>
          <a:blip r:embed="rId3"/>
          <a:stretch>
            <a:fillRect/>
          </a:stretch>
        </p:blipFill>
        <p:spPr>
          <a:xfrm>
            <a:off x="8355330" y="2128266"/>
            <a:ext cx="507492" cy="507492"/>
          </a:xfrm>
          <a:prstGeom prst="rect">
            <a:avLst/>
          </a:prstGeom>
        </p:spPr>
      </p:pic>
      <p:sp>
        <p:nvSpPr>
          <p:cNvPr id="17" name="Text 12"/>
          <p:cNvSpPr/>
          <p:nvPr/>
        </p:nvSpPr>
        <p:spPr>
          <a:xfrm>
            <a:off x="8266176" y="2834640"/>
            <a:ext cx="2898648" cy="457200"/>
          </a:xfrm>
          <a:prstGeom prst="rect">
            <a:avLst/>
          </a:prstGeom>
          <a:noFill/>
          <a:ln/>
        </p:spPr>
        <p:txBody>
          <a:bodyPr wrap="square" rtlCol="0" anchor="ctr"/>
          <a:lstStyle/>
          <a:p>
            <a:pPr indent="0" marL="0">
              <a:buNone/>
            </a:pPr>
            <a:r>
              <a:rPr lang="en-US" sz="1350" b="1" dirty="0">
                <a:solidFill>
                  <a:srgbClr val="1B1B2E"/>
                </a:solidFill>
                <a:latin typeface="Calibri" pitchFamily="34" charset="0"/>
                <a:ea typeface="Calibri" pitchFamily="34" charset="-122"/>
                <a:cs typeface="Calibri" pitchFamily="34" charset="-120"/>
              </a:rPr>
              <a:t>SMS + WhatsApp + Call Alerts</a:t>
            </a:r>
            <a:endParaRPr lang="en-US" sz="1350" dirty="0"/>
          </a:p>
        </p:txBody>
      </p:sp>
      <p:sp>
        <p:nvSpPr>
          <p:cNvPr id="18" name="Text 13"/>
          <p:cNvSpPr/>
          <p:nvPr/>
        </p:nvSpPr>
        <p:spPr>
          <a:xfrm>
            <a:off x="8266176" y="3246120"/>
            <a:ext cx="2898648" cy="457200"/>
          </a:xfrm>
          <a:prstGeom prst="rect">
            <a:avLst/>
          </a:prstGeom>
          <a:noFill/>
          <a:ln/>
        </p:spPr>
        <p:txBody>
          <a:bodyPr wrap="square" rtlCol="0" anchor="ctr"/>
          <a:lstStyle/>
          <a:p>
            <a:pPr indent="0" marL="0">
              <a:lnSpc>
                <a:spcPct val="115000"/>
              </a:lnSpc>
              <a:buNone/>
            </a:pPr>
            <a:r>
              <a:rPr lang="en-US" sz="1050" dirty="0">
                <a:solidFill>
                  <a:srgbClr val="55566B"/>
                </a:solidFill>
                <a:latin typeface="Calibri" pitchFamily="34" charset="0"/>
                <a:ea typeface="Calibri" pitchFamily="34" charset="-122"/>
                <a:cs typeface="Calibri" pitchFamily="34" charset="-120"/>
              </a:rPr>
              <a:t>Multi-channel alerts always get through</a:t>
            </a:r>
            <a:endParaRPr lang="en-US" sz="1050" dirty="0"/>
          </a:p>
        </p:txBody>
      </p:sp>
      <p:sp>
        <p:nvSpPr>
          <p:cNvPr id="19" name="Shape 14"/>
          <p:cNvSpPr/>
          <p:nvPr/>
        </p:nvSpPr>
        <p:spPr>
          <a:xfrm>
            <a:off x="640080" y="3977640"/>
            <a:ext cx="3410712" cy="1965960"/>
          </a:xfrm>
          <a:prstGeom prst="roundRect">
            <a:avLst>
              <a:gd name="adj" fmla="val 3721"/>
            </a:avLst>
          </a:prstGeom>
          <a:solidFill>
            <a:srgbClr val="FFFFFF"/>
          </a:solidFill>
          <a:ln w="12700">
            <a:solidFill>
              <a:srgbClr val="E4E4EE"/>
            </a:solidFill>
            <a:prstDash val="solid"/>
          </a:ln>
        </p:spPr>
      </p:sp>
      <p:sp>
        <p:nvSpPr>
          <p:cNvPr id="20" name="Shape 15"/>
          <p:cNvSpPr/>
          <p:nvPr/>
        </p:nvSpPr>
        <p:spPr>
          <a:xfrm>
            <a:off x="896112" y="4233672"/>
            <a:ext cx="685800" cy="685800"/>
          </a:xfrm>
          <a:prstGeom prst="ellipse">
            <a:avLst/>
          </a:prstGeom>
          <a:solidFill>
            <a:srgbClr val="E63946"/>
          </a:solidFill>
          <a:ln/>
        </p:spPr>
      </p:sp>
      <p:pic>
        <p:nvPicPr>
          <p:cNvPr id="21" name="Image 3" descr="/home/claude/roadsos_deck/icons/heart.png">    </p:cNvPr>
          <p:cNvPicPr>
            <a:picLocks noChangeAspect="1"/>
          </p:cNvPicPr>
          <p:nvPr/>
        </p:nvPicPr>
        <p:blipFill>
          <a:blip r:embed="rId4"/>
          <a:stretch>
            <a:fillRect/>
          </a:stretch>
        </p:blipFill>
        <p:spPr>
          <a:xfrm>
            <a:off x="985266" y="4322826"/>
            <a:ext cx="507492" cy="507492"/>
          </a:xfrm>
          <a:prstGeom prst="rect">
            <a:avLst/>
          </a:prstGeom>
        </p:spPr>
      </p:pic>
      <p:sp>
        <p:nvSpPr>
          <p:cNvPr id="22" name="Text 16"/>
          <p:cNvSpPr/>
          <p:nvPr/>
        </p:nvSpPr>
        <p:spPr>
          <a:xfrm>
            <a:off x="896112" y="5029200"/>
            <a:ext cx="2898648" cy="457200"/>
          </a:xfrm>
          <a:prstGeom prst="rect">
            <a:avLst/>
          </a:prstGeom>
          <a:noFill/>
          <a:ln/>
        </p:spPr>
        <p:txBody>
          <a:bodyPr wrap="square" rtlCol="0" anchor="ctr"/>
          <a:lstStyle/>
          <a:p>
            <a:pPr indent="0" marL="0">
              <a:buNone/>
            </a:pPr>
            <a:r>
              <a:rPr lang="en-US" sz="1350" b="1" dirty="0">
                <a:solidFill>
                  <a:srgbClr val="1B1B2E"/>
                </a:solidFill>
                <a:latin typeface="Calibri" pitchFamily="34" charset="0"/>
                <a:ea typeface="Calibri" pitchFamily="34" charset="-122"/>
                <a:cs typeface="Calibri" pitchFamily="34" charset="-120"/>
              </a:rPr>
              <a:t>Medical Profile Sharing</a:t>
            </a:r>
            <a:endParaRPr lang="en-US" sz="1350" dirty="0"/>
          </a:p>
        </p:txBody>
      </p:sp>
      <p:sp>
        <p:nvSpPr>
          <p:cNvPr id="23" name="Text 17"/>
          <p:cNvSpPr/>
          <p:nvPr/>
        </p:nvSpPr>
        <p:spPr>
          <a:xfrm>
            <a:off x="896112" y="5440680"/>
            <a:ext cx="2898648" cy="457200"/>
          </a:xfrm>
          <a:prstGeom prst="rect">
            <a:avLst/>
          </a:prstGeom>
          <a:noFill/>
          <a:ln/>
        </p:spPr>
        <p:txBody>
          <a:bodyPr wrap="square" rtlCol="0" anchor="ctr"/>
          <a:lstStyle/>
          <a:p>
            <a:pPr indent="0" marL="0">
              <a:lnSpc>
                <a:spcPct val="115000"/>
              </a:lnSpc>
              <a:buNone/>
            </a:pPr>
            <a:r>
              <a:rPr lang="en-US" sz="1050" dirty="0">
                <a:solidFill>
                  <a:srgbClr val="55566B"/>
                </a:solidFill>
                <a:latin typeface="Calibri" pitchFamily="34" charset="0"/>
                <a:ea typeface="Calibri" pitchFamily="34" charset="-122"/>
                <a:cs typeface="Calibri" pitchFamily="34" charset="-120"/>
              </a:rPr>
              <a:t>Blood group &amp; allergies sent to responders</a:t>
            </a:r>
            <a:endParaRPr lang="en-US" sz="1050" dirty="0"/>
          </a:p>
        </p:txBody>
      </p:sp>
      <p:sp>
        <p:nvSpPr>
          <p:cNvPr id="24" name="Shape 18"/>
          <p:cNvSpPr/>
          <p:nvPr/>
        </p:nvSpPr>
        <p:spPr>
          <a:xfrm>
            <a:off x="4325112" y="3977640"/>
            <a:ext cx="3410712" cy="1965960"/>
          </a:xfrm>
          <a:prstGeom prst="roundRect">
            <a:avLst>
              <a:gd name="adj" fmla="val 3721"/>
            </a:avLst>
          </a:prstGeom>
          <a:solidFill>
            <a:srgbClr val="FFFFFF"/>
          </a:solidFill>
          <a:ln w="12700">
            <a:solidFill>
              <a:srgbClr val="E4E4EE"/>
            </a:solidFill>
            <a:prstDash val="solid"/>
          </a:ln>
        </p:spPr>
      </p:sp>
      <p:sp>
        <p:nvSpPr>
          <p:cNvPr id="25" name="Shape 19"/>
          <p:cNvSpPr/>
          <p:nvPr/>
        </p:nvSpPr>
        <p:spPr>
          <a:xfrm>
            <a:off x="4581144" y="4233672"/>
            <a:ext cx="685800" cy="685800"/>
          </a:xfrm>
          <a:prstGeom prst="ellipse">
            <a:avLst/>
          </a:prstGeom>
          <a:solidFill>
            <a:srgbClr val="E63946"/>
          </a:solidFill>
          <a:ln/>
        </p:spPr>
      </p:sp>
      <p:pic>
        <p:nvPicPr>
          <p:cNvPr id="26" name="Image 4" descr="/home/claude/roadsos_deck/icons/zap.png">    </p:cNvPr>
          <p:cNvPicPr>
            <a:picLocks noChangeAspect="1"/>
          </p:cNvPicPr>
          <p:nvPr/>
        </p:nvPicPr>
        <p:blipFill>
          <a:blip r:embed="rId5"/>
          <a:stretch>
            <a:fillRect/>
          </a:stretch>
        </p:blipFill>
        <p:spPr>
          <a:xfrm>
            <a:off x="4670298" y="4322826"/>
            <a:ext cx="507492" cy="507492"/>
          </a:xfrm>
          <a:prstGeom prst="rect">
            <a:avLst/>
          </a:prstGeom>
        </p:spPr>
      </p:pic>
      <p:sp>
        <p:nvSpPr>
          <p:cNvPr id="27" name="Text 20"/>
          <p:cNvSpPr/>
          <p:nvPr/>
        </p:nvSpPr>
        <p:spPr>
          <a:xfrm>
            <a:off x="4581144" y="5029200"/>
            <a:ext cx="2898648" cy="457200"/>
          </a:xfrm>
          <a:prstGeom prst="rect">
            <a:avLst/>
          </a:prstGeom>
          <a:noFill/>
          <a:ln/>
        </p:spPr>
        <p:txBody>
          <a:bodyPr wrap="square" rtlCol="0" anchor="ctr"/>
          <a:lstStyle/>
          <a:p>
            <a:pPr indent="0" marL="0">
              <a:buNone/>
            </a:pPr>
            <a:r>
              <a:rPr lang="en-US" sz="1350" b="1" dirty="0">
                <a:solidFill>
                  <a:srgbClr val="1B1B2E"/>
                </a:solidFill>
                <a:latin typeface="Calibri" pitchFamily="34" charset="0"/>
                <a:ea typeface="Calibri" pitchFamily="34" charset="-122"/>
                <a:cs typeface="Calibri" pitchFamily="34" charset="-120"/>
              </a:rPr>
              <a:t>AI First-Aid Guidance</a:t>
            </a:r>
            <a:endParaRPr lang="en-US" sz="1350" dirty="0"/>
          </a:p>
        </p:txBody>
      </p:sp>
      <p:sp>
        <p:nvSpPr>
          <p:cNvPr id="28" name="Text 21"/>
          <p:cNvSpPr/>
          <p:nvPr/>
        </p:nvSpPr>
        <p:spPr>
          <a:xfrm>
            <a:off x="4581144" y="5440680"/>
            <a:ext cx="2898648" cy="457200"/>
          </a:xfrm>
          <a:prstGeom prst="rect">
            <a:avLst/>
          </a:prstGeom>
          <a:noFill/>
          <a:ln/>
        </p:spPr>
        <p:txBody>
          <a:bodyPr wrap="square" rtlCol="0" anchor="ctr"/>
          <a:lstStyle/>
          <a:p>
            <a:pPr indent="0" marL="0">
              <a:lnSpc>
                <a:spcPct val="115000"/>
              </a:lnSpc>
              <a:buNone/>
            </a:pPr>
            <a:r>
              <a:rPr lang="en-US" sz="1050" dirty="0">
                <a:solidFill>
                  <a:srgbClr val="55566B"/>
                </a:solidFill>
                <a:latin typeface="Calibri" pitchFamily="34" charset="0"/>
                <a:ea typeface="Calibri" pitchFamily="34" charset="-122"/>
                <a:cs typeface="Calibri" pitchFamily="34" charset="-120"/>
              </a:rPr>
              <a:t>Context-aware guidance for bystanders</a:t>
            </a:r>
            <a:endParaRPr lang="en-US" sz="1050" dirty="0"/>
          </a:p>
        </p:txBody>
      </p:sp>
      <p:sp>
        <p:nvSpPr>
          <p:cNvPr id="29" name="Shape 22"/>
          <p:cNvSpPr/>
          <p:nvPr/>
        </p:nvSpPr>
        <p:spPr>
          <a:xfrm>
            <a:off x="8010144" y="3977640"/>
            <a:ext cx="3410712" cy="1965960"/>
          </a:xfrm>
          <a:prstGeom prst="roundRect">
            <a:avLst>
              <a:gd name="adj" fmla="val 3721"/>
            </a:avLst>
          </a:prstGeom>
          <a:solidFill>
            <a:srgbClr val="FFFFFF"/>
          </a:solidFill>
          <a:ln w="12700">
            <a:solidFill>
              <a:srgbClr val="E4E4EE"/>
            </a:solidFill>
            <a:prstDash val="solid"/>
          </a:ln>
        </p:spPr>
      </p:sp>
      <p:sp>
        <p:nvSpPr>
          <p:cNvPr id="30" name="Shape 23"/>
          <p:cNvSpPr/>
          <p:nvPr/>
        </p:nvSpPr>
        <p:spPr>
          <a:xfrm>
            <a:off x="8266176" y="4233672"/>
            <a:ext cx="685800" cy="685800"/>
          </a:xfrm>
          <a:prstGeom prst="ellipse">
            <a:avLst/>
          </a:prstGeom>
          <a:solidFill>
            <a:srgbClr val="E63946"/>
          </a:solidFill>
          <a:ln/>
        </p:spPr>
      </p:sp>
      <p:pic>
        <p:nvPicPr>
          <p:cNvPr id="31" name="Image 5" descr="/home/claude/roadsos_deck/icons/wifi_off.png">    </p:cNvPr>
          <p:cNvPicPr>
            <a:picLocks noChangeAspect="1"/>
          </p:cNvPicPr>
          <p:nvPr/>
        </p:nvPicPr>
        <p:blipFill>
          <a:blip r:embed="rId6"/>
          <a:stretch>
            <a:fillRect/>
          </a:stretch>
        </p:blipFill>
        <p:spPr>
          <a:xfrm>
            <a:off x="8355330" y="4322826"/>
            <a:ext cx="507492" cy="507492"/>
          </a:xfrm>
          <a:prstGeom prst="rect">
            <a:avLst/>
          </a:prstGeom>
        </p:spPr>
      </p:pic>
      <p:sp>
        <p:nvSpPr>
          <p:cNvPr id="32" name="Text 24"/>
          <p:cNvSpPr/>
          <p:nvPr/>
        </p:nvSpPr>
        <p:spPr>
          <a:xfrm>
            <a:off x="8266176" y="5029200"/>
            <a:ext cx="2898648" cy="457200"/>
          </a:xfrm>
          <a:prstGeom prst="rect">
            <a:avLst/>
          </a:prstGeom>
          <a:noFill/>
          <a:ln/>
        </p:spPr>
        <p:txBody>
          <a:bodyPr wrap="square" rtlCol="0" anchor="ctr"/>
          <a:lstStyle/>
          <a:p>
            <a:pPr indent="0" marL="0">
              <a:buNone/>
            </a:pPr>
            <a:r>
              <a:rPr lang="en-US" sz="1350" b="1" dirty="0">
                <a:solidFill>
                  <a:srgbClr val="1B1B2E"/>
                </a:solidFill>
                <a:latin typeface="Calibri" pitchFamily="34" charset="0"/>
                <a:ea typeface="Calibri" pitchFamily="34" charset="-122"/>
                <a:cs typeface="Calibri" pitchFamily="34" charset="-120"/>
              </a:rPr>
              <a:t>Offline &amp; Background Ready</a:t>
            </a:r>
            <a:endParaRPr lang="en-US" sz="1350" dirty="0"/>
          </a:p>
        </p:txBody>
      </p:sp>
      <p:sp>
        <p:nvSpPr>
          <p:cNvPr id="33" name="Text 25"/>
          <p:cNvSpPr/>
          <p:nvPr/>
        </p:nvSpPr>
        <p:spPr>
          <a:xfrm>
            <a:off x="8266176" y="5440680"/>
            <a:ext cx="2898648" cy="457200"/>
          </a:xfrm>
          <a:prstGeom prst="rect">
            <a:avLst/>
          </a:prstGeom>
          <a:noFill/>
          <a:ln/>
        </p:spPr>
        <p:txBody>
          <a:bodyPr wrap="square" rtlCol="0" anchor="ctr"/>
          <a:lstStyle/>
          <a:p>
            <a:pPr indent="0" marL="0">
              <a:lnSpc>
                <a:spcPct val="115000"/>
              </a:lnSpc>
              <a:buNone/>
            </a:pPr>
            <a:r>
              <a:rPr lang="en-US" sz="1050" dirty="0">
                <a:solidFill>
                  <a:srgbClr val="55566B"/>
                </a:solidFill>
                <a:latin typeface="Calibri" pitchFamily="34" charset="0"/>
                <a:ea typeface="Calibri" pitchFamily="34" charset="-122"/>
                <a:cs typeface="Calibri" pitchFamily="34" charset="-120"/>
              </a:rPr>
              <a:t>Protects you even offline, app closed</a:t>
            </a:r>
            <a:endParaRPr lang="en-US" sz="1050" dirty="0"/>
          </a:p>
        </p:txBody>
      </p:sp>
      <p:sp>
        <p:nvSpPr>
          <p:cNvPr id="34" name="Text 26"/>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7D7F99"/>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41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300" b="1" spc="200" kern="0" dirty="0">
                <a:solidFill>
                  <a:srgbClr val="F4B942"/>
                </a:solidFill>
                <a:latin typeface="Calibri" pitchFamily="34" charset="0"/>
                <a:ea typeface="Calibri" pitchFamily="34" charset="-122"/>
                <a:cs typeface="Calibri" pitchFamily="34" charset="-120"/>
              </a:rPr>
              <a:t>UNDER THE HOOD</a:t>
            </a:r>
            <a:endParaRPr lang="en-US" sz="1300" dirty="0"/>
          </a:p>
        </p:txBody>
      </p:sp>
      <p:sp>
        <p:nvSpPr>
          <p:cNvPr id="3" name="Text 1"/>
          <p:cNvSpPr/>
          <p:nvPr/>
        </p:nvSpPr>
        <p:spPr>
          <a:xfrm>
            <a:off x="640080" y="777240"/>
            <a:ext cx="10789920" cy="6858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Technical Architecture</a:t>
            </a:r>
            <a:endParaRPr lang="en-US" sz="3200" dirty="0"/>
          </a:p>
        </p:txBody>
      </p:sp>
      <p:sp>
        <p:nvSpPr>
          <p:cNvPr id="4" name="Shape 2"/>
          <p:cNvSpPr/>
          <p:nvPr/>
        </p:nvSpPr>
        <p:spPr>
          <a:xfrm>
            <a:off x="822960" y="1874520"/>
            <a:ext cx="10058400" cy="841248"/>
          </a:xfrm>
          <a:prstGeom prst="roundRect">
            <a:avLst>
              <a:gd name="adj" fmla="val 7609"/>
            </a:avLst>
          </a:prstGeom>
          <a:solidFill>
            <a:srgbClr val="1E1E33"/>
          </a:solidFill>
          <a:ln/>
        </p:spPr>
      </p:sp>
      <p:sp>
        <p:nvSpPr>
          <p:cNvPr id="5" name="Shape 3"/>
          <p:cNvSpPr/>
          <p:nvPr/>
        </p:nvSpPr>
        <p:spPr>
          <a:xfrm>
            <a:off x="1024128" y="2011680"/>
            <a:ext cx="566928" cy="566928"/>
          </a:xfrm>
          <a:prstGeom prst="ellipse">
            <a:avLst/>
          </a:prstGeom>
          <a:solidFill>
            <a:srgbClr val="E63946"/>
          </a:solidFill>
          <a:ln/>
        </p:spPr>
      </p:sp>
      <p:pic>
        <p:nvPicPr>
          <p:cNvPr id="6" name="Image 0" descr="/home/claude/roadsos_deck/icons/smartphone.png">    </p:cNvPr>
          <p:cNvPicPr>
            <a:picLocks noChangeAspect="1"/>
          </p:cNvPicPr>
          <p:nvPr/>
        </p:nvPicPr>
        <p:blipFill>
          <a:blip r:embed="rId1"/>
          <a:stretch>
            <a:fillRect/>
          </a:stretch>
        </p:blipFill>
        <p:spPr>
          <a:xfrm>
            <a:off x="1097829" y="2085381"/>
            <a:ext cx="419527" cy="419527"/>
          </a:xfrm>
          <a:prstGeom prst="rect">
            <a:avLst/>
          </a:prstGeom>
        </p:spPr>
      </p:pic>
      <p:sp>
        <p:nvSpPr>
          <p:cNvPr id="7" name="Text 4"/>
          <p:cNvSpPr/>
          <p:nvPr/>
        </p:nvSpPr>
        <p:spPr>
          <a:xfrm>
            <a:off x="1828800" y="1874520"/>
            <a:ext cx="2926080" cy="841248"/>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Sensor Layer</a:t>
            </a:r>
            <a:endParaRPr lang="en-US" sz="1450" dirty="0"/>
          </a:p>
        </p:txBody>
      </p:sp>
      <p:sp>
        <p:nvSpPr>
          <p:cNvPr id="8" name="Text 5"/>
          <p:cNvSpPr/>
          <p:nvPr/>
        </p:nvSpPr>
        <p:spPr>
          <a:xfrm>
            <a:off x="4846320" y="1874520"/>
            <a:ext cx="5852160" cy="841248"/>
          </a:xfrm>
          <a:prstGeom prst="rect">
            <a:avLst/>
          </a:prstGeom>
          <a:noFill/>
          <a:ln/>
        </p:spPr>
        <p:txBody>
          <a:bodyPr wrap="square" rtlCol="0" anchor="ctr"/>
          <a:lstStyle/>
          <a:p>
            <a:pPr indent="0" marL="0">
              <a:lnSpc>
                <a:spcPct val="115000"/>
              </a:lnSpc>
              <a:buNone/>
            </a:pPr>
            <a:r>
              <a:rPr lang="en-US" sz="1150" dirty="0">
                <a:solidFill>
                  <a:srgbClr val="A7A9BE"/>
                </a:solidFill>
                <a:latin typeface="Calibri" pitchFamily="34" charset="0"/>
                <a:ea typeface="Calibri" pitchFamily="34" charset="-122"/>
                <a:cs typeface="Calibri" pitchFamily="34" charset="-120"/>
              </a:rPr>
              <a:t>Motion data streamed continuously on-device</a:t>
            </a:r>
            <a:endParaRPr lang="en-US" sz="1150" dirty="0"/>
          </a:p>
        </p:txBody>
      </p:sp>
      <p:sp>
        <p:nvSpPr>
          <p:cNvPr id="9" name="Text 6"/>
          <p:cNvSpPr/>
          <p:nvPr/>
        </p:nvSpPr>
        <p:spPr>
          <a:xfrm>
            <a:off x="1170432" y="2715768"/>
            <a:ext cx="274320" cy="109728"/>
          </a:xfrm>
          <a:prstGeom prst="rect">
            <a:avLst/>
          </a:prstGeom>
          <a:noFill/>
          <a:ln/>
        </p:spPr>
        <p:txBody>
          <a:bodyPr wrap="square" rtlCol="0" anchor="ctr"/>
          <a:lstStyle/>
          <a:p>
            <a:pPr algn="ctr" indent="0" marL="0">
              <a:buNone/>
            </a:pPr>
            <a:r>
              <a:rPr lang="en-US" sz="1200" dirty="0">
                <a:solidFill>
                  <a:srgbClr val="7D7F99"/>
                </a:solidFill>
                <a:latin typeface="Calibri" pitchFamily="34" charset="0"/>
                <a:ea typeface="Calibri" pitchFamily="34" charset="-122"/>
                <a:cs typeface="Calibri" pitchFamily="34" charset="-120"/>
              </a:rPr>
              <a:t>↓</a:t>
            </a:r>
            <a:endParaRPr lang="en-US" sz="1200" dirty="0"/>
          </a:p>
        </p:txBody>
      </p:sp>
      <p:sp>
        <p:nvSpPr>
          <p:cNvPr id="10" name="Shape 7"/>
          <p:cNvSpPr/>
          <p:nvPr/>
        </p:nvSpPr>
        <p:spPr>
          <a:xfrm>
            <a:off x="822960" y="2825496"/>
            <a:ext cx="10058400" cy="841248"/>
          </a:xfrm>
          <a:prstGeom prst="roundRect">
            <a:avLst>
              <a:gd name="adj" fmla="val 7609"/>
            </a:avLst>
          </a:prstGeom>
          <a:solidFill>
            <a:srgbClr val="1E1E33"/>
          </a:solidFill>
          <a:ln/>
        </p:spPr>
      </p:sp>
      <p:sp>
        <p:nvSpPr>
          <p:cNvPr id="11" name="Shape 8"/>
          <p:cNvSpPr/>
          <p:nvPr/>
        </p:nvSpPr>
        <p:spPr>
          <a:xfrm>
            <a:off x="1024128" y="2962656"/>
            <a:ext cx="566928" cy="566928"/>
          </a:xfrm>
          <a:prstGeom prst="ellipse">
            <a:avLst/>
          </a:prstGeom>
          <a:solidFill>
            <a:srgbClr val="2F80ED"/>
          </a:solidFill>
          <a:ln/>
        </p:spPr>
      </p:sp>
      <p:pic>
        <p:nvPicPr>
          <p:cNvPr id="12" name="Image 1" descr="/home/claude/roadsos_deck/icons/cpu.png">    </p:cNvPr>
          <p:cNvPicPr>
            <a:picLocks noChangeAspect="1"/>
          </p:cNvPicPr>
          <p:nvPr/>
        </p:nvPicPr>
        <p:blipFill>
          <a:blip r:embed="rId2"/>
          <a:stretch>
            <a:fillRect/>
          </a:stretch>
        </p:blipFill>
        <p:spPr>
          <a:xfrm>
            <a:off x="1097829" y="3036357"/>
            <a:ext cx="419527" cy="419527"/>
          </a:xfrm>
          <a:prstGeom prst="rect">
            <a:avLst/>
          </a:prstGeom>
        </p:spPr>
      </p:pic>
      <p:sp>
        <p:nvSpPr>
          <p:cNvPr id="13" name="Text 9"/>
          <p:cNvSpPr/>
          <p:nvPr/>
        </p:nvSpPr>
        <p:spPr>
          <a:xfrm>
            <a:off x="1828800" y="2825496"/>
            <a:ext cx="2926080" cy="841248"/>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Detection Engine</a:t>
            </a:r>
            <a:endParaRPr lang="en-US" sz="1450" dirty="0"/>
          </a:p>
        </p:txBody>
      </p:sp>
      <p:sp>
        <p:nvSpPr>
          <p:cNvPr id="14" name="Text 10"/>
          <p:cNvSpPr/>
          <p:nvPr/>
        </p:nvSpPr>
        <p:spPr>
          <a:xfrm>
            <a:off x="4846320" y="2825496"/>
            <a:ext cx="5852160" cy="841248"/>
          </a:xfrm>
          <a:prstGeom prst="rect">
            <a:avLst/>
          </a:prstGeom>
          <a:noFill/>
          <a:ln/>
        </p:spPr>
        <p:txBody>
          <a:bodyPr wrap="square" rtlCol="0" anchor="ctr"/>
          <a:lstStyle/>
          <a:p>
            <a:pPr indent="0" marL="0">
              <a:lnSpc>
                <a:spcPct val="115000"/>
              </a:lnSpc>
              <a:buNone/>
            </a:pPr>
            <a:r>
              <a:rPr lang="en-US" sz="1150" dirty="0">
                <a:solidFill>
                  <a:srgbClr val="A7A9BE"/>
                </a:solidFill>
                <a:latin typeface="Calibri" pitchFamily="34" charset="0"/>
                <a:ea typeface="Calibri" pitchFamily="34" charset="-122"/>
                <a:cs typeface="Calibri" pitchFamily="34" charset="-120"/>
              </a:rPr>
              <a:t>On-device ML classifies crash vs. normal motion</a:t>
            </a:r>
            <a:endParaRPr lang="en-US" sz="1150" dirty="0"/>
          </a:p>
        </p:txBody>
      </p:sp>
      <p:sp>
        <p:nvSpPr>
          <p:cNvPr id="15" name="Text 11"/>
          <p:cNvSpPr/>
          <p:nvPr/>
        </p:nvSpPr>
        <p:spPr>
          <a:xfrm>
            <a:off x="1170432" y="3666744"/>
            <a:ext cx="274320" cy="109728"/>
          </a:xfrm>
          <a:prstGeom prst="rect">
            <a:avLst/>
          </a:prstGeom>
          <a:noFill/>
          <a:ln/>
        </p:spPr>
        <p:txBody>
          <a:bodyPr wrap="square" rtlCol="0" anchor="ctr"/>
          <a:lstStyle/>
          <a:p>
            <a:pPr algn="ctr" indent="0" marL="0">
              <a:buNone/>
            </a:pPr>
            <a:r>
              <a:rPr lang="en-US" sz="1200" dirty="0">
                <a:solidFill>
                  <a:srgbClr val="7D7F99"/>
                </a:solidFill>
                <a:latin typeface="Calibri" pitchFamily="34" charset="0"/>
                <a:ea typeface="Calibri" pitchFamily="34" charset="-122"/>
                <a:cs typeface="Calibri" pitchFamily="34" charset="-120"/>
              </a:rPr>
              <a:t>↓</a:t>
            </a:r>
            <a:endParaRPr lang="en-US" sz="1200" dirty="0"/>
          </a:p>
        </p:txBody>
      </p:sp>
      <p:sp>
        <p:nvSpPr>
          <p:cNvPr id="16" name="Shape 12"/>
          <p:cNvSpPr/>
          <p:nvPr/>
        </p:nvSpPr>
        <p:spPr>
          <a:xfrm>
            <a:off x="822960" y="3776472"/>
            <a:ext cx="10058400" cy="841248"/>
          </a:xfrm>
          <a:prstGeom prst="roundRect">
            <a:avLst>
              <a:gd name="adj" fmla="val 7609"/>
            </a:avLst>
          </a:prstGeom>
          <a:solidFill>
            <a:srgbClr val="1E1E33"/>
          </a:solidFill>
          <a:ln/>
        </p:spPr>
      </p:sp>
      <p:sp>
        <p:nvSpPr>
          <p:cNvPr id="17" name="Shape 13"/>
          <p:cNvSpPr/>
          <p:nvPr/>
        </p:nvSpPr>
        <p:spPr>
          <a:xfrm>
            <a:off x="1024128" y="3913632"/>
            <a:ext cx="566928" cy="566928"/>
          </a:xfrm>
          <a:prstGeom prst="ellipse">
            <a:avLst/>
          </a:prstGeom>
          <a:solidFill>
            <a:srgbClr val="E63946"/>
          </a:solidFill>
          <a:ln/>
        </p:spPr>
      </p:sp>
      <p:pic>
        <p:nvPicPr>
          <p:cNvPr id="18" name="Image 2" descr="/home/claude/roadsos_deck/icons/send.png">    </p:cNvPr>
          <p:cNvPicPr>
            <a:picLocks noChangeAspect="1"/>
          </p:cNvPicPr>
          <p:nvPr/>
        </p:nvPicPr>
        <p:blipFill>
          <a:blip r:embed="rId3"/>
          <a:stretch>
            <a:fillRect/>
          </a:stretch>
        </p:blipFill>
        <p:spPr>
          <a:xfrm>
            <a:off x="1097829" y="3987333"/>
            <a:ext cx="419527" cy="419527"/>
          </a:xfrm>
          <a:prstGeom prst="rect">
            <a:avLst/>
          </a:prstGeom>
        </p:spPr>
      </p:pic>
      <p:sp>
        <p:nvSpPr>
          <p:cNvPr id="19" name="Text 14"/>
          <p:cNvSpPr/>
          <p:nvPr/>
        </p:nvSpPr>
        <p:spPr>
          <a:xfrm>
            <a:off x="1828800" y="3776472"/>
            <a:ext cx="2926080" cy="841248"/>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Alert Engine</a:t>
            </a:r>
            <a:endParaRPr lang="en-US" sz="1450" dirty="0"/>
          </a:p>
        </p:txBody>
      </p:sp>
      <p:sp>
        <p:nvSpPr>
          <p:cNvPr id="20" name="Text 15"/>
          <p:cNvSpPr/>
          <p:nvPr/>
        </p:nvSpPr>
        <p:spPr>
          <a:xfrm>
            <a:off x="4846320" y="3776472"/>
            <a:ext cx="5852160" cy="841248"/>
          </a:xfrm>
          <a:prstGeom prst="rect">
            <a:avLst/>
          </a:prstGeom>
          <a:noFill/>
          <a:ln/>
        </p:spPr>
        <p:txBody>
          <a:bodyPr wrap="square" rtlCol="0" anchor="ctr"/>
          <a:lstStyle/>
          <a:p>
            <a:pPr indent="0" marL="0">
              <a:lnSpc>
                <a:spcPct val="115000"/>
              </a:lnSpc>
              <a:buNone/>
            </a:pPr>
            <a:r>
              <a:rPr lang="en-US" sz="1150" dirty="0">
                <a:solidFill>
                  <a:srgbClr val="A7A9BE"/>
                </a:solidFill>
                <a:latin typeface="Calibri" pitchFamily="34" charset="0"/>
                <a:ea typeface="Calibri" pitchFamily="34" charset="-122"/>
                <a:cs typeface="Calibri" pitchFamily="34" charset="-120"/>
              </a:rPr>
              <a:t>Packages &amp; dispatches the emergency alert</a:t>
            </a:r>
            <a:endParaRPr lang="en-US" sz="1150" dirty="0"/>
          </a:p>
        </p:txBody>
      </p:sp>
      <p:sp>
        <p:nvSpPr>
          <p:cNvPr id="21" name="Text 16"/>
          <p:cNvSpPr/>
          <p:nvPr/>
        </p:nvSpPr>
        <p:spPr>
          <a:xfrm>
            <a:off x="1170432" y="4617720"/>
            <a:ext cx="274320" cy="109728"/>
          </a:xfrm>
          <a:prstGeom prst="rect">
            <a:avLst/>
          </a:prstGeom>
          <a:noFill/>
          <a:ln/>
        </p:spPr>
        <p:txBody>
          <a:bodyPr wrap="square" rtlCol="0" anchor="ctr"/>
          <a:lstStyle/>
          <a:p>
            <a:pPr algn="ctr" indent="0" marL="0">
              <a:buNone/>
            </a:pPr>
            <a:r>
              <a:rPr lang="en-US" sz="1200" dirty="0">
                <a:solidFill>
                  <a:srgbClr val="7D7F99"/>
                </a:solidFill>
                <a:latin typeface="Calibri" pitchFamily="34" charset="0"/>
                <a:ea typeface="Calibri" pitchFamily="34" charset="-122"/>
                <a:cs typeface="Calibri" pitchFamily="34" charset="-120"/>
              </a:rPr>
              <a:t>↓</a:t>
            </a:r>
            <a:endParaRPr lang="en-US" sz="1200" dirty="0"/>
          </a:p>
        </p:txBody>
      </p:sp>
      <p:sp>
        <p:nvSpPr>
          <p:cNvPr id="22" name="Shape 17"/>
          <p:cNvSpPr/>
          <p:nvPr/>
        </p:nvSpPr>
        <p:spPr>
          <a:xfrm>
            <a:off x="822960" y="4727448"/>
            <a:ext cx="10058400" cy="841248"/>
          </a:xfrm>
          <a:prstGeom prst="roundRect">
            <a:avLst>
              <a:gd name="adj" fmla="val 7609"/>
            </a:avLst>
          </a:prstGeom>
          <a:solidFill>
            <a:srgbClr val="1E1E33"/>
          </a:solidFill>
          <a:ln/>
        </p:spPr>
      </p:sp>
      <p:sp>
        <p:nvSpPr>
          <p:cNvPr id="23" name="Shape 18"/>
          <p:cNvSpPr/>
          <p:nvPr/>
        </p:nvSpPr>
        <p:spPr>
          <a:xfrm>
            <a:off x="1024128" y="4864608"/>
            <a:ext cx="566928" cy="566928"/>
          </a:xfrm>
          <a:prstGeom prst="ellipse">
            <a:avLst/>
          </a:prstGeom>
          <a:solidFill>
            <a:srgbClr val="2F80ED"/>
          </a:solidFill>
          <a:ln/>
        </p:spPr>
      </p:sp>
      <p:pic>
        <p:nvPicPr>
          <p:cNvPr id="24" name="Image 3" descr="/home/claude/roadsos_deck/icons/zap.png">    </p:cNvPr>
          <p:cNvPicPr>
            <a:picLocks noChangeAspect="1"/>
          </p:cNvPicPr>
          <p:nvPr/>
        </p:nvPicPr>
        <p:blipFill>
          <a:blip r:embed="rId4"/>
          <a:stretch>
            <a:fillRect/>
          </a:stretch>
        </p:blipFill>
        <p:spPr>
          <a:xfrm>
            <a:off x="1097829" y="4938309"/>
            <a:ext cx="419527" cy="419527"/>
          </a:xfrm>
          <a:prstGeom prst="rect">
            <a:avLst/>
          </a:prstGeom>
        </p:spPr>
      </p:pic>
      <p:sp>
        <p:nvSpPr>
          <p:cNvPr id="25" name="Text 19"/>
          <p:cNvSpPr/>
          <p:nvPr/>
        </p:nvSpPr>
        <p:spPr>
          <a:xfrm>
            <a:off x="1828800" y="4727448"/>
            <a:ext cx="2926080" cy="841248"/>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AI Guidance Layer</a:t>
            </a:r>
            <a:endParaRPr lang="en-US" sz="1450" dirty="0"/>
          </a:p>
        </p:txBody>
      </p:sp>
      <p:sp>
        <p:nvSpPr>
          <p:cNvPr id="26" name="Text 20"/>
          <p:cNvSpPr/>
          <p:nvPr/>
        </p:nvSpPr>
        <p:spPr>
          <a:xfrm>
            <a:off x="4846320" y="4727448"/>
            <a:ext cx="5852160" cy="841248"/>
          </a:xfrm>
          <a:prstGeom prst="rect">
            <a:avLst/>
          </a:prstGeom>
          <a:noFill/>
          <a:ln/>
        </p:spPr>
        <p:txBody>
          <a:bodyPr wrap="square" rtlCol="0" anchor="ctr"/>
          <a:lstStyle/>
          <a:p>
            <a:pPr indent="0" marL="0">
              <a:lnSpc>
                <a:spcPct val="115000"/>
              </a:lnSpc>
              <a:buNone/>
            </a:pPr>
            <a:r>
              <a:rPr lang="en-US" sz="1150" dirty="0">
                <a:solidFill>
                  <a:srgbClr val="A7A9BE"/>
                </a:solidFill>
                <a:latin typeface="Calibri" pitchFamily="34" charset="0"/>
                <a:ea typeface="Calibri" pitchFamily="34" charset="-122"/>
                <a:cs typeface="Calibri" pitchFamily="34" charset="-120"/>
              </a:rPr>
              <a:t>LLM-powered assistant generates first-aid guidance</a:t>
            </a:r>
            <a:endParaRPr lang="en-US" sz="1150" dirty="0"/>
          </a:p>
        </p:txBody>
      </p:sp>
      <p:sp>
        <p:nvSpPr>
          <p:cNvPr id="27" name="Text 21"/>
          <p:cNvSpPr/>
          <p:nvPr/>
        </p:nvSpPr>
        <p:spPr>
          <a:xfrm>
            <a:off x="1170432" y="5568696"/>
            <a:ext cx="274320" cy="109728"/>
          </a:xfrm>
          <a:prstGeom prst="rect">
            <a:avLst/>
          </a:prstGeom>
          <a:noFill/>
          <a:ln/>
        </p:spPr>
        <p:txBody>
          <a:bodyPr wrap="square" rtlCol="0" anchor="ctr"/>
          <a:lstStyle/>
          <a:p>
            <a:pPr algn="ctr" indent="0" marL="0">
              <a:buNone/>
            </a:pPr>
            <a:r>
              <a:rPr lang="en-US" sz="1200" dirty="0">
                <a:solidFill>
                  <a:srgbClr val="7D7F99"/>
                </a:solidFill>
                <a:latin typeface="Calibri" pitchFamily="34" charset="0"/>
                <a:ea typeface="Calibri" pitchFamily="34" charset="-122"/>
                <a:cs typeface="Calibri" pitchFamily="34" charset="-120"/>
              </a:rPr>
              <a:t>↓</a:t>
            </a:r>
            <a:endParaRPr lang="en-US" sz="1200" dirty="0"/>
          </a:p>
        </p:txBody>
      </p:sp>
      <p:sp>
        <p:nvSpPr>
          <p:cNvPr id="28" name="Shape 22"/>
          <p:cNvSpPr/>
          <p:nvPr/>
        </p:nvSpPr>
        <p:spPr>
          <a:xfrm>
            <a:off x="822960" y="5678424"/>
            <a:ext cx="10058400" cy="841248"/>
          </a:xfrm>
          <a:prstGeom prst="roundRect">
            <a:avLst>
              <a:gd name="adj" fmla="val 7609"/>
            </a:avLst>
          </a:prstGeom>
          <a:solidFill>
            <a:srgbClr val="1E1E33"/>
          </a:solidFill>
          <a:ln/>
        </p:spPr>
      </p:sp>
      <p:sp>
        <p:nvSpPr>
          <p:cNvPr id="29" name="Shape 23"/>
          <p:cNvSpPr/>
          <p:nvPr/>
        </p:nvSpPr>
        <p:spPr>
          <a:xfrm>
            <a:off x="1024128" y="5815584"/>
            <a:ext cx="566928" cy="566928"/>
          </a:xfrm>
          <a:prstGeom prst="ellipse">
            <a:avLst/>
          </a:prstGeom>
          <a:solidFill>
            <a:srgbClr val="E63946"/>
          </a:solidFill>
          <a:ln/>
        </p:spPr>
      </p:sp>
      <p:pic>
        <p:nvPicPr>
          <p:cNvPr id="30" name="Image 4" descr="/home/claude/roadsos_deck/icons/database.png">    </p:cNvPr>
          <p:cNvPicPr>
            <a:picLocks noChangeAspect="1"/>
          </p:cNvPicPr>
          <p:nvPr/>
        </p:nvPicPr>
        <p:blipFill>
          <a:blip r:embed="rId5"/>
          <a:stretch>
            <a:fillRect/>
          </a:stretch>
        </p:blipFill>
        <p:spPr>
          <a:xfrm>
            <a:off x="1097829" y="5889285"/>
            <a:ext cx="419527" cy="419527"/>
          </a:xfrm>
          <a:prstGeom prst="rect">
            <a:avLst/>
          </a:prstGeom>
        </p:spPr>
      </p:pic>
      <p:sp>
        <p:nvSpPr>
          <p:cNvPr id="31" name="Text 24"/>
          <p:cNvSpPr/>
          <p:nvPr/>
        </p:nvSpPr>
        <p:spPr>
          <a:xfrm>
            <a:off x="1828800" y="5678424"/>
            <a:ext cx="2926080" cy="841248"/>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Offline Cache &amp; Sync</a:t>
            </a:r>
            <a:endParaRPr lang="en-US" sz="1450" dirty="0"/>
          </a:p>
        </p:txBody>
      </p:sp>
      <p:sp>
        <p:nvSpPr>
          <p:cNvPr id="32" name="Text 25"/>
          <p:cNvSpPr/>
          <p:nvPr/>
        </p:nvSpPr>
        <p:spPr>
          <a:xfrm>
            <a:off x="4846320" y="5678424"/>
            <a:ext cx="5852160" cy="841248"/>
          </a:xfrm>
          <a:prstGeom prst="rect">
            <a:avLst/>
          </a:prstGeom>
          <a:noFill/>
          <a:ln/>
        </p:spPr>
        <p:txBody>
          <a:bodyPr wrap="square" rtlCol="0" anchor="ctr"/>
          <a:lstStyle/>
          <a:p>
            <a:pPr indent="0" marL="0">
              <a:lnSpc>
                <a:spcPct val="115000"/>
              </a:lnSpc>
              <a:buNone/>
            </a:pPr>
            <a:r>
              <a:rPr lang="en-US" sz="1150" dirty="0">
                <a:solidFill>
                  <a:srgbClr val="A7A9BE"/>
                </a:solidFill>
                <a:latin typeface="Calibri" pitchFamily="34" charset="0"/>
                <a:ea typeface="Calibri" pitchFamily="34" charset="-122"/>
                <a:cs typeface="Calibri" pitchFamily="34" charset="-120"/>
              </a:rPr>
              <a:t>Syncs the moment connectivity returns</a:t>
            </a:r>
            <a:endParaRPr lang="en-US" sz="1150" dirty="0"/>
          </a:p>
        </p:txBody>
      </p:sp>
      <p:sp>
        <p:nvSpPr>
          <p:cNvPr id="33" name="Text 26"/>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B9B9C4"/>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2F7"/>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300" b="1" spc="200" kern="0" dirty="0">
                <a:solidFill>
                  <a:srgbClr val="B32330"/>
                </a:solidFill>
                <a:latin typeface="Calibri" pitchFamily="34" charset="0"/>
                <a:ea typeface="Calibri" pitchFamily="34" charset="-122"/>
                <a:cs typeface="Calibri" pitchFamily="34" charset="-120"/>
              </a:rPr>
              <a:t>TRACK FIT</a:t>
            </a:r>
            <a:endParaRPr lang="en-US" sz="1300" dirty="0"/>
          </a:p>
        </p:txBody>
      </p:sp>
      <p:sp>
        <p:nvSpPr>
          <p:cNvPr id="3" name="Text 1"/>
          <p:cNvSpPr/>
          <p:nvPr/>
        </p:nvSpPr>
        <p:spPr>
          <a:xfrm>
            <a:off x="640080" y="777240"/>
            <a:ext cx="10789920" cy="685800"/>
          </a:xfrm>
          <a:prstGeom prst="rect">
            <a:avLst/>
          </a:prstGeom>
          <a:noFill/>
          <a:ln/>
        </p:spPr>
        <p:txBody>
          <a:bodyPr wrap="square" rtlCol="0" anchor="ctr"/>
          <a:lstStyle/>
          <a:p>
            <a:pPr indent="0" marL="0">
              <a:buNone/>
            </a:pPr>
            <a:r>
              <a:rPr lang="en-US" sz="2800" b="1" dirty="0">
                <a:solidFill>
                  <a:srgbClr val="1B1B2E"/>
                </a:solidFill>
                <a:latin typeface="Cambria" pitchFamily="34" charset="0"/>
                <a:ea typeface="Cambria" pitchFamily="34" charset="-122"/>
                <a:cs typeface="Cambria" pitchFamily="34" charset="-120"/>
              </a:rPr>
              <a:t>Alignment with Road Safety Track Challenges</a:t>
            </a:r>
            <a:endParaRPr lang="en-US" sz="2800" dirty="0"/>
          </a:p>
        </p:txBody>
      </p:sp>
      <p:sp>
        <p:nvSpPr>
          <p:cNvPr id="4" name="Shape 2"/>
          <p:cNvSpPr/>
          <p:nvPr/>
        </p:nvSpPr>
        <p:spPr>
          <a:xfrm>
            <a:off x="640080" y="1783080"/>
            <a:ext cx="10789920" cy="1417320"/>
          </a:xfrm>
          <a:prstGeom prst="roundRect">
            <a:avLst>
              <a:gd name="adj" fmla="val 5161"/>
            </a:avLst>
          </a:prstGeom>
          <a:solidFill>
            <a:srgbClr val="FFFFFF"/>
          </a:solidFill>
          <a:ln w="12700">
            <a:solidFill>
              <a:srgbClr val="E4E4EE"/>
            </a:solidFill>
            <a:prstDash val="solid"/>
          </a:ln>
        </p:spPr>
      </p:sp>
      <p:sp>
        <p:nvSpPr>
          <p:cNvPr id="5" name="Shape 3"/>
          <p:cNvSpPr/>
          <p:nvPr/>
        </p:nvSpPr>
        <p:spPr>
          <a:xfrm>
            <a:off x="868680" y="2103120"/>
            <a:ext cx="777240" cy="777240"/>
          </a:xfrm>
          <a:prstGeom prst="ellipse">
            <a:avLst/>
          </a:prstGeom>
          <a:solidFill>
            <a:srgbClr val="B32330"/>
          </a:solidFill>
          <a:ln/>
        </p:spPr>
      </p:sp>
      <p:pic>
        <p:nvPicPr>
          <p:cNvPr id="6" name="Image 0" descr="/home/claude/roadsos_deck/icons/eye.png">    </p:cNvPr>
          <p:cNvPicPr>
            <a:picLocks noChangeAspect="1"/>
          </p:cNvPicPr>
          <p:nvPr/>
        </p:nvPicPr>
        <p:blipFill>
          <a:blip r:embed="rId1"/>
          <a:stretch>
            <a:fillRect/>
          </a:stretch>
        </p:blipFill>
        <p:spPr>
          <a:xfrm>
            <a:off x="969721" y="2204161"/>
            <a:ext cx="575158" cy="575158"/>
          </a:xfrm>
          <a:prstGeom prst="rect">
            <a:avLst/>
          </a:prstGeom>
        </p:spPr>
      </p:pic>
      <p:sp>
        <p:nvSpPr>
          <p:cNvPr id="7" name="Text 4"/>
          <p:cNvSpPr/>
          <p:nvPr/>
        </p:nvSpPr>
        <p:spPr>
          <a:xfrm>
            <a:off x="1828800" y="1947672"/>
            <a:ext cx="5120640" cy="365760"/>
          </a:xfrm>
          <a:prstGeom prst="rect">
            <a:avLst/>
          </a:prstGeom>
          <a:noFill/>
          <a:ln/>
        </p:spPr>
        <p:txBody>
          <a:bodyPr wrap="square" rtlCol="0" anchor="ctr"/>
          <a:lstStyle/>
          <a:p>
            <a:pPr indent="0" marL="0">
              <a:buNone/>
            </a:pPr>
            <a:r>
              <a:rPr lang="en-US" sz="1550" b="1" dirty="0">
                <a:solidFill>
                  <a:srgbClr val="1B1B2E"/>
                </a:solidFill>
                <a:latin typeface="Calibri" pitchFamily="34" charset="0"/>
                <a:ea typeface="Calibri" pitchFamily="34" charset="-122"/>
                <a:cs typeface="Calibri" pitchFamily="34" charset="-120"/>
              </a:rPr>
              <a:t>Accident Prediction</a:t>
            </a:r>
            <a:endParaRPr lang="en-US" sz="1550" dirty="0"/>
          </a:p>
        </p:txBody>
      </p:sp>
      <p:sp>
        <p:nvSpPr>
          <p:cNvPr id="8" name="Text 5"/>
          <p:cNvSpPr/>
          <p:nvPr/>
        </p:nvSpPr>
        <p:spPr>
          <a:xfrm>
            <a:off x="1828800" y="2331720"/>
            <a:ext cx="7589520" cy="777240"/>
          </a:xfrm>
          <a:prstGeom prst="rect">
            <a:avLst/>
          </a:prstGeom>
          <a:noFill/>
          <a:ln/>
        </p:spPr>
        <p:txBody>
          <a:bodyPr wrap="square" rtlCol="0" anchor="ctr"/>
          <a:lstStyle/>
          <a:p>
            <a:pPr indent="0" marL="0">
              <a:lnSpc>
                <a:spcPct val="120000"/>
              </a:lnSpc>
              <a:buNone/>
            </a:pPr>
            <a:r>
              <a:rPr lang="en-US" sz="1080" dirty="0">
                <a:solidFill>
                  <a:srgbClr val="55566B"/>
                </a:solidFill>
                <a:latin typeface="Calibri" pitchFamily="34" charset="0"/>
                <a:ea typeface="Calibri" pitchFamily="34" charset="-122"/>
                <a:cs typeface="Calibri" pitchFamily="34" charset="-120"/>
              </a:rPr>
              <a:t>Sensor patterns flag risky motion signatures and build a dataset for future risk scoring.</a:t>
            </a:r>
            <a:endParaRPr lang="en-US" sz="1080" dirty="0"/>
          </a:p>
        </p:txBody>
      </p:sp>
      <p:sp>
        <p:nvSpPr>
          <p:cNvPr id="9" name="Shape 6"/>
          <p:cNvSpPr/>
          <p:nvPr/>
        </p:nvSpPr>
        <p:spPr>
          <a:xfrm>
            <a:off x="10241280" y="1947672"/>
            <a:ext cx="960120" cy="365760"/>
          </a:xfrm>
          <a:prstGeom prst="roundRect">
            <a:avLst>
              <a:gd name="adj" fmla="val 50000"/>
            </a:avLst>
          </a:prstGeom>
          <a:solidFill>
            <a:srgbClr val="1E8E3E"/>
          </a:solidFill>
          <a:ln/>
        </p:spPr>
      </p:sp>
      <p:sp>
        <p:nvSpPr>
          <p:cNvPr id="10" name="Text 7"/>
          <p:cNvSpPr/>
          <p:nvPr/>
        </p:nvSpPr>
        <p:spPr>
          <a:xfrm>
            <a:off x="10241280" y="1947672"/>
            <a:ext cx="960120" cy="365760"/>
          </a:xfrm>
          <a:prstGeom prst="rect">
            <a:avLst/>
          </a:prstGeom>
          <a:noFill/>
          <a:ln/>
        </p:spPr>
        <p:txBody>
          <a:bodyPr wrap="square"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LIVE</a:t>
            </a:r>
            <a:endParaRPr lang="en-US" sz="950" dirty="0"/>
          </a:p>
        </p:txBody>
      </p:sp>
      <p:sp>
        <p:nvSpPr>
          <p:cNvPr id="11" name="Shape 8"/>
          <p:cNvSpPr/>
          <p:nvPr/>
        </p:nvSpPr>
        <p:spPr>
          <a:xfrm>
            <a:off x="640080" y="3401568"/>
            <a:ext cx="10789920" cy="1417320"/>
          </a:xfrm>
          <a:prstGeom prst="roundRect">
            <a:avLst>
              <a:gd name="adj" fmla="val 5161"/>
            </a:avLst>
          </a:prstGeom>
          <a:solidFill>
            <a:srgbClr val="FFFFFF"/>
          </a:solidFill>
          <a:ln w="12700">
            <a:solidFill>
              <a:srgbClr val="E4E4EE"/>
            </a:solidFill>
            <a:prstDash val="solid"/>
          </a:ln>
        </p:spPr>
      </p:sp>
      <p:sp>
        <p:nvSpPr>
          <p:cNvPr id="12" name="Shape 9"/>
          <p:cNvSpPr/>
          <p:nvPr/>
        </p:nvSpPr>
        <p:spPr>
          <a:xfrm>
            <a:off x="868680" y="3721608"/>
            <a:ext cx="777240" cy="777240"/>
          </a:xfrm>
          <a:prstGeom prst="ellipse">
            <a:avLst/>
          </a:prstGeom>
          <a:solidFill>
            <a:srgbClr val="B32330"/>
          </a:solidFill>
          <a:ln/>
        </p:spPr>
      </p:sp>
      <p:pic>
        <p:nvPicPr>
          <p:cNvPr id="13" name="Image 1" descr="/home/claude/roadsos_deck/icons/navigation.png">    </p:cNvPr>
          <p:cNvPicPr>
            <a:picLocks noChangeAspect="1"/>
          </p:cNvPicPr>
          <p:nvPr/>
        </p:nvPicPr>
        <p:blipFill>
          <a:blip r:embed="rId2"/>
          <a:stretch>
            <a:fillRect/>
          </a:stretch>
        </p:blipFill>
        <p:spPr>
          <a:xfrm>
            <a:off x="969721" y="3822649"/>
            <a:ext cx="575158" cy="575158"/>
          </a:xfrm>
          <a:prstGeom prst="rect">
            <a:avLst/>
          </a:prstGeom>
        </p:spPr>
      </p:pic>
      <p:sp>
        <p:nvSpPr>
          <p:cNvPr id="14" name="Text 10"/>
          <p:cNvSpPr/>
          <p:nvPr/>
        </p:nvSpPr>
        <p:spPr>
          <a:xfrm>
            <a:off x="1828800" y="3566160"/>
            <a:ext cx="5120640" cy="365760"/>
          </a:xfrm>
          <a:prstGeom prst="rect">
            <a:avLst/>
          </a:prstGeom>
          <a:noFill/>
          <a:ln/>
        </p:spPr>
        <p:txBody>
          <a:bodyPr wrap="square" rtlCol="0" anchor="ctr"/>
          <a:lstStyle/>
          <a:p>
            <a:pPr indent="0" marL="0">
              <a:buNone/>
            </a:pPr>
            <a:r>
              <a:rPr lang="en-US" sz="1550" b="1" dirty="0">
                <a:solidFill>
                  <a:srgbClr val="1B1B2E"/>
                </a:solidFill>
                <a:latin typeface="Calibri" pitchFamily="34" charset="0"/>
                <a:ea typeface="Calibri" pitchFamily="34" charset="-122"/>
                <a:cs typeface="Calibri" pitchFamily="34" charset="-120"/>
              </a:rPr>
              <a:t>Driver Assistance</a:t>
            </a:r>
            <a:endParaRPr lang="en-US" sz="1550" dirty="0"/>
          </a:p>
        </p:txBody>
      </p:sp>
      <p:sp>
        <p:nvSpPr>
          <p:cNvPr id="15" name="Text 11"/>
          <p:cNvSpPr/>
          <p:nvPr/>
        </p:nvSpPr>
        <p:spPr>
          <a:xfrm>
            <a:off x="1828800" y="3950208"/>
            <a:ext cx="7589520" cy="777240"/>
          </a:xfrm>
          <a:prstGeom prst="rect">
            <a:avLst/>
          </a:prstGeom>
          <a:noFill/>
          <a:ln/>
        </p:spPr>
        <p:txBody>
          <a:bodyPr wrap="square" rtlCol="0" anchor="ctr"/>
          <a:lstStyle/>
          <a:p>
            <a:pPr indent="0" marL="0">
              <a:lnSpc>
                <a:spcPct val="120000"/>
              </a:lnSpc>
              <a:buNone/>
            </a:pPr>
            <a:r>
              <a:rPr lang="en-US" sz="1080" dirty="0">
                <a:solidFill>
                  <a:srgbClr val="55566B"/>
                </a:solidFill>
                <a:latin typeface="Calibri" pitchFamily="34" charset="0"/>
                <a:ea typeface="Calibri" pitchFamily="34" charset="-122"/>
                <a:cs typeface="Calibri" pitchFamily="34" charset="-120"/>
              </a:rPr>
              <a:t>Voice SOS, shake triggers &amp; AI guidance assist drivers before, during, and after an incident.</a:t>
            </a:r>
            <a:endParaRPr lang="en-US" sz="1080" dirty="0"/>
          </a:p>
        </p:txBody>
      </p:sp>
      <p:sp>
        <p:nvSpPr>
          <p:cNvPr id="16" name="Shape 12"/>
          <p:cNvSpPr/>
          <p:nvPr/>
        </p:nvSpPr>
        <p:spPr>
          <a:xfrm>
            <a:off x="10241280" y="3566160"/>
            <a:ext cx="960120" cy="365760"/>
          </a:xfrm>
          <a:prstGeom prst="roundRect">
            <a:avLst>
              <a:gd name="adj" fmla="val 50000"/>
            </a:avLst>
          </a:prstGeom>
          <a:solidFill>
            <a:srgbClr val="1E8E3E"/>
          </a:solidFill>
          <a:ln/>
        </p:spPr>
      </p:sp>
      <p:sp>
        <p:nvSpPr>
          <p:cNvPr id="17" name="Text 13"/>
          <p:cNvSpPr/>
          <p:nvPr/>
        </p:nvSpPr>
        <p:spPr>
          <a:xfrm>
            <a:off x="10241280" y="3566160"/>
            <a:ext cx="960120" cy="365760"/>
          </a:xfrm>
          <a:prstGeom prst="rect">
            <a:avLst/>
          </a:prstGeom>
          <a:noFill/>
          <a:ln/>
        </p:spPr>
        <p:txBody>
          <a:bodyPr wrap="square"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LIVE</a:t>
            </a:r>
            <a:endParaRPr lang="en-US" sz="950" dirty="0"/>
          </a:p>
        </p:txBody>
      </p:sp>
      <p:sp>
        <p:nvSpPr>
          <p:cNvPr id="18" name="Shape 14"/>
          <p:cNvSpPr/>
          <p:nvPr/>
        </p:nvSpPr>
        <p:spPr>
          <a:xfrm>
            <a:off x="640080" y="5020056"/>
            <a:ext cx="10789920" cy="1417320"/>
          </a:xfrm>
          <a:prstGeom prst="roundRect">
            <a:avLst>
              <a:gd name="adj" fmla="val 5161"/>
            </a:avLst>
          </a:prstGeom>
          <a:solidFill>
            <a:srgbClr val="FFFFFF"/>
          </a:solidFill>
          <a:ln w="12700">
            <a:solidFill>
              <a:srgbClr val="E4E4EE"/>
            </a:solidFill>
            <a:prstDash val="solid"/>
          </a:ln>
        </p:spPr>
      </p:sp>
      <p:sp>
        <p:nvSpPr>
          <p:cNvPr id="19" name="Shape 15"/>
          <p:cNvSpPr/>
          <p:nvPr/>
        </p:nvSpPr>
        <p:spPr>
          <a:xfrm>
            <a:off x="868680" y="5340096"/>
            <a:ext cx="777240" cy="777240"/>
          </a:xfrm>
          <a:prstGeom prst="ellipse">
            <a:avLst/>
          </a:prstGeom>
          <a:solidFill>
            <a:srgbClr val="B32330"/>
          </a:solidFill>
          <a:ln/>
        </p:spPr>
      </p:sp>
      <p:pic>
        <p:nvPicPr>
          <p:cNvPr id="20" name="Image 2" descr="/home/claude/roadsos_deck/icons/trending_up.png">    </p:cNvPr>
          <p:cNvPicPr>
            <a:picLocks noChangeAspect="1"/>
          </p:cNvPicPr>
          <p:nvPr/>
        </p:nvPicPr>
        <p:blipFill>
          <a:blip r:embed="rId3"/>
          <a:stretch>
            <a:fillRect/>
          </a:stretch>
        </p:blipFill>
        <p:spPr>
          <a:xfrm>
            <a:off x="969721" y="5441137"/>
            <a:ext cx="575158" cy="575158"/>
          </a:xfrm>
          <a:prstGeom prst="rect">
            <a:avLst/>
          </a:prstGeom>
        </p:spPr>
      </p:pic>
      <p:sp>
        <p:nvSpPr>
          <p:cNvPr id="21" name="Text 16"/>
          <p:cNvSpPr/>
          <p:nvPr/>
        </p:nvSpPr>
        <p:spPr>
          <a:xfrm>
            <a:off x="1828800" y="5184648"/>
            <a:ext cx="5120640" cy="365760"/>
          </a:xfrm>
          <a:prstGeom prst="rect">
            <a:avLst/>
          </a:prstGeom>
          <a:noFill/>
          <a:ln/>
        </p:spPr>
        <p:txBody>
          <a:bodyPr wrap="square" rtlCol="0" anchor="ctr"/>
          <a:lstStyle/>
          <a:p>
            <a:pPr indent="0" marL="0">
              <a:buNone/>
            </a:pPr>
            <a:r>
              <a:rPr lang="en-US" sz="1550" b="1" dirty="0">
                <a:solidFill>
                  <a:srgbClr val="1B1B2E"/>
                </a:solidFill>
                <a:latin typeface="Calibri" pitchFamily="34" charset="0"/>
                <a:ea typeface="Calibri" pitchFamily="34" charset="-122"/>
                <a:cs typeface="Calibri" pitchFamily="34" charset="-120"/>
              </a:rPr>
              <a:t>Traffic Flow Optimization</a:t>
            </a:r>
            <a:endParaRPr lang="en-US" sz="1550" dirty="0"/>
          </a:p>
        </p:txBody>
      </p:sp>
      <p:sp>
        <p:nvSpPr>
          <p:cNvPr id="22" name="Text 17"/>
          <p:cNvSpPr/>
          <p:nvPr/>
        </p:nvSpPr>
        <p:spPr>
          <a:xfrm>
            <a:off x="1828800" y="5568696"/>
            <a:ext cx="7589520" cy="777240"/>
          </a:xfrm>
          <a:prstGeom prst="rect">
            <a:avLst/>
          </a:prstGeom>
          <a:noFill/>
          <a:ln/>
        </p:spPr>
        <p:txBody>
          <a:bodyPr wrap="square" rtlCol="0" anchor="ctr"/>
          <a:lstStyle/>
          <a:p>
            <a:pPr indent="0" marL="0">
              <a:lnSpc>
                <a:spcPct val="120000"/>
              </a:lnSpc>
              <a:buNone/>
            </a:pPr>
            <a:r>
              <a:rPr lang="en-US" sz="1080" dirty="0">
                <a:solidFill>
                  <a:srgbClr val="55566B"/>
                </a:solidFill>
                <a:latin typeface="Calibri" pitchFamily="34" charset="0"/>
                <a:ea typeface="Calibri" pitchFamily="34" charset="-122"/>
                <a:cs typeface="Calibri" pitchFamily="34" charset="-120"/>
              </a:rPr>
              <a:t>Every alert carries live location data — the foundation for emergency-vehicle routing integration.</a:t>
            </a:r>
            <a:endParaRPr lang="en-US" sz="1080" dirty="0"/>
          </a:p>
        </p:txBody>
      </p:sp>
      <p:sp>
        <p:nvSpPr>
          <p:cNvPr id="23" name="Shape 18"/>
          <p:cNvSpPr/>
          <p:nvPr/>
        </p:nvSpPr>
        <p:spPr>
          <a:xfrm>
            <a:off x="9692640" y="5184648"/>
            <a:ext cx="1508760" cy="365760"/>
          </a:xfrm>
          <a:prstGeom prst="roundRect">
            <a:avLst>
              <a:gd name="adj" fmla="val 50000"/>
            </a:avLst>
          </a:prstGeom>
          <a:solidFill>
            <a:srgbClr val="F4B942"/>
          </a:solidFill>
          <a:ln/>
        </p:spPr>
      </p:sp>
      <p:sp>
        <p:nvSpPr>
          <p:cNvPr id="24" name="Text 19"/>
          <p:cNvSpPr/>
          <p:nvPr/>
        </p:nvSpPr>
        <p:spPr>
          <a:xfrm>
            <a:off x="9692640" y="5184648"/>
            <a:ext cx="1508760" cy="365760"/>
          </a:xfrm>
          <a:prstGeom prst="rect">
            <a:avLst/>
          </a:prstGeom>
          <a:noFill/>
          <a:ln/>
        </p:spPr>
        <p:txBody>
          <a:bodyPr wrap="square"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ROADMAP-READY</a:t>
            </a:r>
            <a:endParaRPr lang="en-US" sz="950" dirty="0"/>
          </a:p>
        </p:txBody>
      </p:sp>
      <p:sp>
        <p:nvSpPr>
          <p:cNvPr id="25" name="Text 20"/>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7D7F99"/>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41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300" b="1" spc="200" kern="0" dirty="0">
                <a:solidFill>
                  <a:srgbClr val="F4B942"/>
                </a:solidFill>
                <a:latin typeface="Calibri" pitchFamily="34" charset="0"/>
                <a:ea typeface="Calibri" pitchFamily="34" charset="-122"/>
                <a:cs typeface="Calibri" pitchFamily="34" charset="-120"/>
              </a:rPr>
              <a:t>IMPACT &amp; VISION</a:t>
            </a:r>
            <a:endParaRPr lang="en-US" sz="1300" dirty="0"/>
          </a:p>
        </p:txBody>
      </p:sp>
      <p:sp>
        <p:nvSpPr>
          <p:cNvPr id="3" name="Text 1"/>
          <p:cNvSpPr/>
          <p:nvPr/>
        </p:nvSpPr>
        <p:spPr>
          <a:xfrm>
            <a:off x="640080" y="777240"/>
            <a:ext cx="10789920" cy="6858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Impact We're Targeting</a:t>
            </a:r>
            <a:endParaRPr lang="en-US" sz="3200" dirty="0"/>
          </a:p>
        </p:txBody>
      </p:sp>
      <p:sp>
        <p:nvSpPr>
          <p:cNvPr id="4" name="Shape 2"/>
          <p:cNvSpPr/>
          <p:nvPr/>
        </p:nvSpPr>
        <p:spPr>
          <a:xfrm>
            <a:off x="640080" y="1737360"/>
            <a:ext cx="5120640" cy="1920240"/>
          </a:xfrm>
          <a:prstGeom prst="roundRect">
            <a:avLst>
              <a:gd name="adj" fmla="val 3810"/>
            </a:avLst>
          </a:prstGeom>
          <a:solidFill>
            <a:srgbClr val="1E1E33"/>
          </a:solidFill>
          <a:ln/>
        </p:spPr>
      </p:sp>
      <p:sp>
        <p:nvSpPr>
          <p:cNvPr id="5" name="Text 3"/>
          <p:cNvSpPr/>
          <p:nvPr/>
        </p:nvSpPr>
        <p:spPr>
          <a:xfrm>
            <a:off x="914400" y="1920240"/>
            <a:ext cx="2743200" cy="320040"/>
          </a:xfrm>
          <a:prstGeom prst="rect">
            <a:avLst/>
          </a:prstGeom>
          <a:noFill/>
          <a:ln/>
        </p:spPr>
        <p:txBody>
          <a:bodyPr wrap="square" rtlCol="0" anchor="ctr"/>
          <a:lstStyle/>
          <a:p>
            <a:pPr indent="0" marL="0">
              <a:buNone/>
            </a:pPr>
            <a:r>
              <a:rPr lang="en-US" sz="1100" b="1" spc="200" kern="0" dirty="0">
                <a:solidFill>
                  <a:srgbClr val="7D7F99"/>
                </a:solidFill>
                <a:latin typeface="Calibri" pitchFamily="34" charset="0"/>
                <a:ea typeface="Calibri" pitchFamily="34" charset="-122"/>
                <a:cs typeface="Calibri" pitchFamily="34" charset="-120"/>
              </a:rPr>
              <a:t>BEFORE</a:t>
            </a:r>
            <a:endParaRPr lang="en-US" sz="1100" dirty="0"/>
          </a:p>
        </p:txBody>
      </p:sp>
      <p:sp>
        <p:nvSpPr>
          <p:cNvPr id="6" name="Text 4"/>
          <p:cNvSpPr/>
          <p:nvPr/>
        </p:nvSpPr>
        <p:spPr>
          <a:xfrm>
            <a:off x="914400" y="2240280"/>
            <a:ext cx="4572000" cy="640080"/>
          </a:xfrm>
          <a:prstGeom prst="rect">
            <a:avLst/>
          </a:prstGeom>
          <a:noFill/>
          <a:ln/>
        </p:spPr>
        <p:txBody>
          <a:bodyPr wrap="square" rtlCol="0" anchor="ctr"/>
          <a:lstStyle/>
          <a:p>
            <a:pPr indent="0" marL="0">
              <a:buNone/>
            </a:pPr>
            <a:r>
              <a:rPr lang="en-US" sz="3400" b="1" dirty="0">
                <a:solidFill>
                  <a:srgbClr val="A7A9BE"/>
                </a:solidFill>
                <a:latin typeface="Cambria" pitchFamily="34" charset="0"/>
                <a:ea typeface="Cambria" pitchFamily="34" charset="-122"/>
                <a:cs typeface="Cambria" pitchFamily="34" charset="-120"/>
              </a:rPr>
              <a:t>6+ minutes</a:t>
            </a:r>
            <a:endParaRPr lang="en-US" sz="3400" dirty="0"/>
          </a:p>
        </p:txBody>
      </p:sp>
      <p:sp>
        <p:nvSpPr>
          <p:cNvPr id="7" name="Text 5"/>
          <p:cNvSpPr/>
          <p:nvPr/>
        </p:nvSpPr>
        <p:spPr>
          <a:xfrm>
            <a:off x="914400" y="2926080"/>
            <a:ext cx="4572000" cy="640080"/>
          </a:xfrm>
          <a:prstGeom prst="rect">
            <a:avLst/>
          </a:prstGeom>
          <a:noFill/>
          <a:ln/>
        </p:spPr>
        <p:txBody>
          <a:bodyPr wrap="square" rtlCol="0" anchor="ctr"/>
          <a:lstStyle/>
          <a:p>
            <a:pPr indent="0" marL="0">
              <a:lnSpc>
                <a:spcPct val="120000"/>
              </a:lnSpc>
              <a:buNone/>
            </a:pPr>
            <a:r>
              <a:rPr lang="en-US" sz="1100" dirty="0">
                <a:solidFill>
                  <a:srgbClr val="7D7F99"/>
                </a:solidFill>
                <a:latin typeface="Calibri" pitchFamily="34" charset="0"/>
                <a:ea typeface="Calibri" pitchFamily="34" charset="-122"/>
                <a:cs typeface="Calibri" pitchFamily="34" charset="-120"/>
              </a:rPr>
              <a:t>average emergency response time, with manual reporting and delayed medical context</a:t>
            </a:r>
            <a:endParaRPr lang="en-US" sz="1100" dirty="0"/>
          </a:p>
        </p:txBody>
      </p:sp>
      <p:sp>
        <p:nvSpPr>
          <p:cNvPr id="8" name="Shape 6"/>
          <p:cNvSpPr/>
          <p:nvPr/>
        </p:nvSpPr>
        <p:spPr>
          <a:xfrm>
            <a:off x="6035040" y="1737360"/>
            <a:ext cx="5394960" cy="1920240"/>
          </a:xfrm>
          <a:prstGeom prst="roundRect">
            <a:avLst>
              <a:gd name="adj" fmla="val 3810"/>
            </a:avLst>
          </a:prstGeom>
          <a:solidFill>
            <a:srgbClr val="E63946"/>
          </a:solidFill>
          <a:ln/>
        </p:spPr>
      </p:sp>
      <p:sp>
        <p:nvSpPr>
          <p:cNvPr id="9" name="Text 7"/>
          <p:cNvSpPr/>
          <p:nvPr/>
        </p:nvSpPr>
        <p:spPr>
          <a:xfrm>
            <a:off x="6309360" y="1920240"/>
            <a:ext cx="3657600" cy="320040"/>
          </a:xfrm>
          <a:prstGeom prst="rect">
            <a:avLst/>
          </a:prstGeom>
          <a:noFill/>
          <a:ln/>
        </p:spPr>
        <p:txBody>
          <a:bodyPr wrap="square" rtlCol="0" anchor="ctr"/>
          <a:lstStyle/>
          <a:p>
            <a:pPr indent="0" marL="0">
              <a:buNone/>
            </a:pPr>
            <a:r>
              <a:rPr lang="en-US" sz="1100" b="1" spc="200" kern="0" dirty="0">
                <a:solidFill>
                  <a:srgbClr val="FFD9DC"/>
                </a:solidFill>
                <a:latin typeface="Calibri" pitchFamily="34" charset="0"/>
                <a:ea typeface="Calibri" pitchFamily="34" charset="-122"/>
                <a:cs typeface="Calibri" pitchFamily="34" charset="-120"/>
              </a:rPr>
              <a:t>WITH ROADSOS_AI</a:t>
            </a:r>
            <a:endParaRPr lang="en-US" sz="1100" dirty="0"/>
          </a:p>
        </p:txBody>
      </p:sp>
      <p:sp>
        <p:nvSpPr>
          <p:cNvPr id="10" name="Text 8"/>
          <p:cNvSpPr/>
          <p:nvPr/>
        </p:nvSpPr>
        <p:spPr>
          <a:xfrm>
            <a:off x="6309360" y="2240280"/>
            <a:ext cx="4572000" cy="6400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&lt; 60 seconds</a:t>
            </a:r>
            <a:endParaRPr lang="en-US" sz="3400" dirty="0"/>
          </a:p>
        </p:txBody>
      </p:sp>
      <p:sp>
        <p:nvSpPr>
          <p:cNvPr id="11" name="Text 9"/>
          <p:cNvSpPr/>
          <p:nvPr/>
        </p:nvSpPr>
        <p:spPr>
          <a:xfrm>
            <a:off x="6309360" y="2926080"/>
            <a:ext cx="4846320" cy="640080"/>
          </a:xfrm>
          <a:prstGeom prst="rect">
            <a:avLst/>
          </a:prstGeom>
          <a:noFill/>
          <a:ln/>
        </p:spPr>
        <p:txBody>
          <a:bodyPr wrap="square" rtlCol="0" anchor="ctr"/>
          <a:lstStyle/>
          <a:p>
            <a:pPr indent="0" marL="0">
              <a:lnSpc>
                <a:spcPct val="120000"/>
              </a:lnSpc>
              <a:buNone/>
            </a:pPr>
            <a:r>
              <a:rPr lang="en-US" sz="1100" dirty="0">
                <a:solidFill>
                  <a:srgbClr val="FFECEC"/>
                </a:solidFill>
                <a:latin typeface="Calibri" pitchFamily="34" charset="0"/>
                <a:ea typeface="Calibri" pitchFamily="34" charset="-122"/>
                <a:cs typeface="Calibri" pitchFamily="34" charset="-120"/>
              </a:rPr>
              <a:t>automatic detection, instant multi-channel alerts, and live medical context from second one</a:t>
            </a:r>
            <a:endParaRPr lang="en-US" sz="1100" dirty="0"/>
          </a:p>
        </p:txBody>
      </p:sp>
      <p:sp>
        <p:nvSpPr>
          <p:cNvPr id="12" name="Shape 10"/>
          <p:cNvSpPr/>
          <p:nvPr/>
        </p:nvSpPr>
        <p:spPr>
          <a:xfrm>
            <a:off x="640080" y="3977640"/>
            <a:ext cx="3410712" cy="1417320"/>
          </a:xfrm>
          <a:prstGeom prst="roundRect">
            <a:avLst>
              <a:gd name="adj" fmla="val 5161"/>
            </a:avLst>
          </a:prstGeom>
          <a:solidFill>
            <a:srgbClr val="24243D"/>
          </a:solidFill>
          <a:ln/>
        </p:spPr>
      </p:sp>
      <p:sp>
        <p:nvSpPr>
          <p:cNvPr id="13" name="Text 11"/>
          <p:cNvSpPr/>
          <p:nvPr/>
        </p:nvSpPr>
        <p:spPr>
          <a:xfrm>
            <a:off x="640080" y="4114800"/>
            <a:ext cx="3410712" cy="640080"/>
          </a:xfrm>
          <a:prstGeom prst="rect">
            <a:avLst/>
          </a:prstGeom>
          <a:noFill/>
          <a:ln/>
        </p:spPr>
        <p:txBody>
          <a:bodyPr wrap="square" rtlCol="0" anchor="ctr"/>
          <a:lstStyle/>
          <a:p>
            <a:pPr algn="ctr" indent="0" marL="0">
              <a:buNone/>
            </a:pPr>
            <a:r>
              <a:rPr lang="en-US" sz="2600" b="1" dirty="0">
                <a:solidFill>
                  <a:srgbClr val="F4B942"/>
                </a:solidFill>
                <a:latin typeface="Cambria" pitchFamily="34" charset="0"/>
                <a:ea typeface="Cambria" pitchFamily="34" charset="-122"/>
                <a:cs typeface="Cambria" pitchFamily="34" charset="-120"/>
              </a:rPr>
              <a:t>40–60%</a:t>
            </a:r>
            <a:endParaRPr lang="en-US" sz="2600" dirty="0"/>
          </a:p>
        </p:txBody>
      </p:sp>
      <p:sp>
        <p:nvSpPr>
          <p:cNvPr id="14" name="Text 12"/>
          <p:cNvSpPr/>
          <p:nvPr/>
        </p:nvSpPr>
        <p:spPr>
          <a:xfrm>
            <a:off x="822960" y="4754880"/>
            <a:ext cx="3044952" cy="594360"/>
          </a:xfrm>
          <a:prstGeom prst="rect">
            <a:avLst/>
          </a:prstGeom>
          <a:noFill/>
          <a:ln/>
        </p:spPr>
        <p:txBody>
          <a:bodyPr wrap="square" rtlCol="0" anchor="ctr"/>
          <a:lstStyle/>
          <a:p>
            <a:pPr algn="ctr" indent="0" marL="0">
              <a:lnSpc>
                <a:spcPct val="110000"/>
              </a:lnSpc>
              <a:buNone/>
            </a:pPr>
            <a:r>
              <a:rPr lang="en-US" sz="1050" dirty="0">
                <a:solidFill>
                  <a:srgbClr val="A7A9BE"/>
                </a:solidFill>
                <a:latin typeface="Calibri" pitchFamily="34" charset="0"/>
                <a:ea typeface="Calibri" pitchFamily="34" charset="-122"/>
                <a:cs typeface="Calibri" pitchFamily="34" charset="-120"/>
              </a:rPr>
              <a:t>Faster emergency</a:t>
            </a:r>
            <a:endParaRPr lang="en-US" sz="1050" dirty="0"/>
          </a:p>
          <a:p>
            <a:pPr algn="ctr" indent="0" marL="0">
              <a:lnSpc>
                <a:spcPct val="110000"/>
              </a:lnSpc>
              <a:buNone/>
            </a:pPr>
            <a:r>
              <a:rPr lang="en-US" sz="1050" dirty="0">
                <a:solidFill>
                  <a:srgbClr val="A7A9BE"/>
                </a:solidFill>
                <a:latin typeface="Calibri" pitchFamily="34" charset="0"/>
                <a:ea typeface="Calibri" pitchFamily="34" charset="-122"/>
                <a:cs typeface="Calibri" pitchFamily="34" charset="-120"/>
              </a:rPr>
              <a:t>response target</a:t>
            </a:r>
            <a:endParaRPr lang="en-US" sz="1050" dirty="0"/>
          </a:p>
        </p:txBody>
      </p:sp>
      <p:sp>
        <p:nvSpPr>
          <p:cNvPr id="15" name="Shape 13"/>
          <p:cNvSpPr/>
          <p:nvPr/>
        </p:nvSpPr>
        <p:spPr>
          <a:xfrm>
            <a:off x="4325112" y="3977640"/>
            <a:ext cx="3410712" cy="1417320"/>
          </a:xfrm>
          <a:prstGeom prst="roundRect">
            <a:avLst>
              <a:gd name="adj" fmla="val 5161"/>
            </a:avLst>
          </a:prstGeom>
          <a:solidFill>
            <a:srgbClr val="24243D"/>
          </a:solidFill>
          <a:ln/>
        </p:spPr>
      </p:sp>
      <p:sp>
        <p:nvSpPr>
          <p:cNvPr id="16" name="Text 14"/>
          <p:cNvSpPr/>
          <p:nvPr/>
        </p:nvSpPr>
        <p:spPr>
          <a:xfrm>
            <a:off x="4325112" y="4114800"/>
            <a:ext cx="3410712" cy="640080"/>
          </a:xfrm>
          <a:prstGeom prst="rect">
            <a:avLst/>
          </a:prstGeom>
          <a:noFill/>
          <a:ln/>
        </p:spPr>
        <p:txBody>
          <a:bodyPr wrap="square" rtlCol="0" anchor="ctr"/>
          <a:lstStyle/>
          <a:p>
            <a:pPr algn="ctr" indent="0" marL="0">
              <a:buNone/>
            </a:pPr>
            <a:r>
              <a:rPr lang="en-US" sz="2600" b="1" dirty="0">
                <a:solidFill>
                  <a:srgbClr val="F4B942"/>
                </a:solidFill>
                <a:latin typeface="Cambria" pitchFamily="34" charset="0"/>
                <a:ea typeface="Cambria" pitchFamily="34" charset="-122"/>
                <a:cs typeface="Cambria" pitchFamily="34" charset="-120"/>
              </a:rPr>
              <a:t>1000s</a:t>
            </a:r>
            <a:endParaRPr lang="en-US" sz="2600" dirty="0"/>
          </a:p>
        </p:txBody>
      </p:sp>
      <p:sp>
        <p:nvSpPr>
          <p:cNvPr id="17" name="Text 15"/>
          <p:cNvSpPr/>
          <p:nvPr/>
        </p:nvSpPr>
        <p:spPr>
          <a:xfrm>
            <a:off x="4507992" y="4754880"/>
            <a:ext cx="3044952" cy="594360"/>
          </a:xfrm>
          <a:prstGeom prst="rect">
            <a:avLst/>
          </a:prstGeom>
          <a:noFill/>
          <a:ln/>
        </p:spPr>
        <p:txBody>
          <a:bodyPr wrap="square" rtlCol="0" anchor="ctr"/>
          <a:lstStyle/>
          <a:p>
            <a:pPr algn="ctr" indent="0" marL="0">
              <a:lnSpc>
                <a:spcPct val="110000"/>
              </a:lnSpc>
              <a:buNone/>
            </a:pPr>
            <a:r>
              <a:rPr lang="en-US" sz="1050" dirty="0">
                <a:solidFill>
                  <a:srgbClr val="A7A9BE"/>
                </a:solidFill>
                <a:latin typeface="Calibri" pitchFamily="34" charset="0"/>
                <a:ea typeface="Calibri" pitchFamily="34" charset="-122"/>
                <a:cs typeface="Calibri" pitchFamily="34" charset="-120"/>
              </a:rPr>
              <a:t>Of lives with the</a:t>
            </a:r>
            <a:endParaRPr lang="en-US" sz="1050" dirty="0"/>
          </a:p>
          <a:p>
            <a:pPr algn="ctr" indent="0" marL="0">
              <a:lnSpc>
                <a:spcPct val="110000"/>
              </a:lnSpc>
              <a:buNone/>
            </a:pPr>
            <a:r>
              <a:rPr lang="en-US" sz="1050" dirty="0">
                <a:solidFill>
                  <a:srgbClr val="A7A9BE"/>
                </a:solidFill>
                <a:latin typeface="Calibri" pitchFamily="34" charset="0"/>
                <a:ea typeface="Calibri" pitchFamily="34" charset="-122"/>
                <a:cs typeface="Calibri" pitchFamily="34" charset="-120"/>
              </a:rPr>
              <a:t>potential to be saved yearly</a:t>
            </a:r>
            <a:endParaRPr lang="en-US" sz="1050" dirty="0"/>
          </a:p>
        </p:txBody>
      </p:sp>
      <p:sp>
        <p:nvSpPr>
          <p:cNvPr id="18" name="Shape 16"/>
          <p:cNvSpPr/>
          <p:nvPr/>
        </p:nvSpPr>
        <p:spPr>
          <a:xfrm>
            <a:off x="8010144" y="3977640"/>
            <a:ext cx="3410712" cy="1417320"/>
          </a:xfrm>
          <a:prstGeom prst="roundRect">
            <a:avLst>
              <a:gd name="adj" fmla="val 5161"/>
            </a:avLst>
          </a:prstGeom>
          <a:solidFill>
            <a:srgbClr val="24243D"/>
          </a:solidFill>
          <a:ln/>
        </p:spPr>
      </p:sp>
      <p:sp>
        <p:nvSpPr>
          <p:cNvPr id="19" name="Text 17"/>
          <p:cNvSpPr/>
          <p:nvPr/>
        </p:nvSpPr>
        <p:spPr>
          <a:xfrm>
            <a:off x="8010144" y="4114800"/>
            <a:ext cx="3410712" cy="640080"/>
          </a:xfrm>
          <a:prstGeom prst="rect">
            <a:avLst/>
          </a:prstGeom>
          <a:noFill/>
          <a:ln/>
        </p:spPr>
        <p:txBody>
          <a:bodyPr wrap="square" rtlCol="0" anchor="ctr"/>
          <a:lstStyle/>
          <a:p>
            <a:pPr algn="ctr" indent="0" marL="0">
              <a:buNone/>
            </a:pPr>
            <a:r>
              <a:rPr lang="en-US" sz="2600" b="1" dirty="0">
                <a:solidFill>
                  <a:srgbClr val="F4B942"/>
                </a:solidFill>
                <a:latin typeface="Cambria" pitchFamily="34" charset="0"/>
                <a:ea typeface="Cambria" pitchFamily="34" charset="-122"/>
                <a:cs typeface="Cambria" pitchFamily="34" charset="-120"/>
              </a:rPr>
              <a:t>100%</a:t>
            </a:r>
            <a:endParaRPr lang="en-US" sz="2600" dirty="0"/>
          </a:p>
        </p:txBody>
      </p:sp>
      <p:sp>
        <p:nvSpPr>
          <p:cNvPr id="20" name="Text 18"/>
          <p:cNvSpPr/>
          <p:nvPr/>
        </p:nvSpPr>
        <p:spPr>
          <a:xfrm>
            <a:off x="8193024" y="4754880"/>
            <a:ext cx="3044952" cy="594360"/>
          </a:xfrm>
          <a:prstGeom prst="rect">
            <a:avLst/>
          </a:prstGeom>
          <a:noFill/>
          <a:ln/>
        </p:spPr>
        <p:txBody>
          <a:bodyPr wrap="square" rtlCol="0" anchor="ctr"/>
          <a:lstStyle/>
          <a:p>
            <a:pPr algn="ctr" indent="0" marL="0">
              <a:lnSpc>
                <a:spcPct val="110000"/>
              </a:lnSpc>
              <a:buNone/>
            </a:pPr>
            <a:r>
              <a:rPr lang="en-US" sz="1050" dirty="0">
                <a:solidFill>
                  <a:srgbClr val="A7A9BE"/>
                </a:solidFill>
                <a:latin typeface="Calibri" pitchFamily="34" charset="0"/>
                <a:ea typeface="Calibri" pitchFamily="34" charset="-122"/>
                <a:cs typeface="Calibri" pitchFamily="34" charset="-120"/>
              </a:rPr>
              <a:t>Offline-capable,</a:t>
            </a:r>
            <a:endParaRPr lang="en-US" sz="1050" dirty="0"/>
          </a:p>
          <a:p>
            <a:pPr algn="ctr" indent="0" marL="0">
              <a:lnSpc>
                <a:spcPct val="110000"/>
              </a:lnSpc>
              <a:buNone/>
            </a:pPr>
            <a:r>
              <a:rPr lang="en-US" sz="1050" dirty="0">
                <a:solidFill>
                  <a:srgbClr val="A7A9BE"/>
                </a:solidFill>
                <a:latin typeface="Calibri" pitchFamily="34" charset="0"/>
                <a:ea typeface="Calibri" pitchFamily="34" charset="-122"/>
                <a:cs typeface="Calibri" pitchFamily="34" charset="-120"/>
              </a:rPr>
              <a:t>background-ready design</a:t>
            </a:r>
            <a:endParaRPr lang="en-US" sz="1050" dirty="0"/>
          </a:p>
        </p:txBody>
      </p:sp>
      <p:sp>
        <p:nvSpPr>
          <p:cNvPr id="21" name="Text 19"/>
          <p:cNvSpPr/>
          <p:nvPr/>
        </p:nvSpPr>
        <p:spPr>
          <a:xfrm>
            <a:off x="640080" y="5623560"/>
            <a:ext cx="10789920" cy="548640"/>
          </a:xfrm>
          <a:prstGeom prst="rect">
            <a:avLst/>
          </a:prstGeom>
          <a:noFill/>
          <a:ln/>
        </p:spPr>
        <p:txBody>
          <a:bodyPr wrap="square" rtlCol="0" anchor="ctr"/>
          <a:lstStyle/>
          <a:p>
            <a:pPr algn="ctr" indent="0" marL="0">
              <a:buNone/>
            </a:pPr>
            <a:r>
              <a:rPr lang="en-US" sz="1500" b="1" i="1" dirty="0">
                <a:solidFill>
                  <a:srgbClr val="F2F2F7"/>
                </a:solidFill>
                <a:latin typeface="Calibri" pitchFamily="34" charset="0"/>
                <a:ea typeface="Calibri" pitchFamily="34" charset="-122"/>
                <a:cs typeface="Calibri" pitchFamily="34" charset="-120"/>
              </a:rPr>
              <a:t>Vision: every vehicle, every phone — a life-saving node on the road.</a:t>
            </a:r>
            <a:endParaRPr lang="en-US" sz="1500" dirty="0"/>
          </a:p>
        </p:txBody>
      </p:sp>
      <p:sp>
        <p:nvSpPr>
          <p:cNvPr id="22" name="Text 20"/>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B9B9C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2F7"/>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300" b="1" spc="200" kern="0" dirty="0">
                <a:solidFill>
                  <a:srgbClr val="B32330"/>
                </a:solidFill>
                <a:latin typeface="Calibri" pitchFamily="34" charset="0"/>
                <a:ea typeface="Calibri" pitchFamily="34" charset="-122"/>
                <a:cs typeface="Calibri" pitchFamily="34" charset="-120"/>
              </a:rPr>
              <a:t>THE TEAM</a:t>
            </a:r>
            <a:endParaRPr lang="en-US" sz="1300" dirty="0"/>
          </a:p>
        </p:txBody>
      </p:sp>
      <p:sp>
        <p:nvSpPr>
          <p:cNvPr id="3" name="Text 1"/>
          <p:cNvSpPr/>
          <p:nvPr/>
        </p:nvSpPr>
        <p:spPr>
          <a:xfrm>
            <a:off x="640080" y="777240"/>
            <a:ext cx="10789920" cy="685800"/>
          </a:xfrm>
          <a:prstGeom prst="rect">
            <a:avLst/>
          </a:prstGeom>
          <a:noFill/>
          <a:ln/>
        </p:spPr>
        <p:txBody>
          <a:bodyPr wrap="square" rtlCol="0" anchor="ctr"/>
          <a:lstStyle/>
          <a:p>
            <a:pPr indent="0" marL="0">
              <a:buNone/>
            </a:pPr>
            <a:r>
              <a:rPr lang="en-US" sz="3200" b="1" dirty="0">
                <a:solidFill>
                  <a:srgbClr val="1B1B2E"/>
                </a:solidFill>
                <a:latin typeface="Cambria" pitchFamily="34" charset="0"/>
                <a:ea typeface="Cambria" pitchFamily="34" charset="-122"/>
                <a:cs typeface="Cambria" pitchFamily="34" charset="-120"/>
              </a:rPr>
              <a:t>Team RoadSoS_AI</a:t>
            </a:r>
            <a:endParaRPr lang="en-US" sz="3200" dirty="0"/>
          </a:p>
        </p:txBody>
      </p:sp>
      <p:sp>
        <p:nvSpPr>
          <p:cNvPr id="4" name="Text 2"/>
          <p:cNvSpPr/>
          <p:nvPr/>
        </p:nvSpPr>
        <p:spPr>
          <a:xfrm>
            <a:off x="640080" y="1417320"/>
            <a:ext cx="10058400" cy="457200"/>
          </a:xfrm>
          <a:prstGeom prst="rect">
            <a:avLst/>
          </a:prstGeom>
          <a:noFill/>
          <a:ln/>
        </p:spPr>
        <p:txBody>
          <a:bodyPr wrap="square" rtlCol="0" anchor="ctr"/>
          <a:lstStyle/>
          <a:p>
            <a:pPr indent="0" marL="0">
              <a:buNone/>
            </a:pPr>
            <a:r>
              <a:rPr lang="en-US" sz="1400" i="1" dirty="0">
                <a:solidFill>
                  <a:srgbClr val="55566B"/>
                </a:solidFill>
                <a:latin typeface="Calibri" pitchFamily="34" charset="0"/>
                <a:ea typeface="Calibri" pitchFamily="34" charset="-122"/>
                <a:cs typeface="Calibri" pitchFamily="34" charset="-120"/>
              </a:rPr>
              <a:t>The builders behind the mission to make every road safer.</a:t>
            </a:r>
            <a:endParaRPr lang="en-US" sz="1400" dirty="0"/>
          </a:p>
        </p:txBody>
      </p:sp>
      <p:sp>
        <p:nvSpPr>
          <p:cNvPr id="5" name="Shape 3"/>
          <p:cNvSpPr/>
          <p:nvPr/>
        </p:nvSpPr>
        <p:spPr>
          <a:xfrm>
            <a:off x="640080" y="2148840"/>
            <a:ext cx="3410712" cy="3291840"/>
          </a:xfrm>
          <a:prstGeom prst="roundRect">
            <a:avLst>
              <a:gd name="adj" fmla="val 2500"/>
            </a:avLst>
          </a:prstGeom>
          <a:solidFill>
            <a:srgbClr val="FFFFFF"/>
          </a:solidFill>
          <a:ln w="12700">
            <a:solidFill>
              <a:srgbClr val="E4E4EE"/>
            </a:solidFill>
            <a:prstDash val="solid"/>
          </a:ln>
        </p:spPr>
      </p:sp>
      <p:sp>
        <p:nvSpPr>
          <p:cNvPr id="6" name="Shape 4"/>
          <p:cNvSpPr/>
          <p:nvPr/>
        </p:nvSpPr>
        <p:spPr>
          <a:xfrm>
            <a:off x="1705356" y="2560320"/>
            <a:ext cx="1280160" cy="1280160"/>
          </a:xfrm>
          <a:prstGeom prst="ellipse">
            <a:avLst/>
          </a:prstGeom>
          <a:solidFill>
            <a:srgbClr val="E63946"/>
          </a:solidFill>
          <a:ln/>
        </p:spPr>
      </p:sp>
      <p:sp>
        <p:nvSpPr>
          <p:cNvPr id="7" name="Text 5"/>
          <p:cNvSpPr/>
          <p:nvPr/>
        </p:nvSpPr>
        <p:spPr>
          <a:xfrm>
            <a:off x="1705356" y="2560320"/>
            <a:ext cx="1280160" cy="128016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HP</a:t>
            </a:r>
            <a:endParaRPr lang="en-US" sz="3000" dirty="0"/>
          </a:p>
        </p:txBody>
      </p:sp>
      <p:sp>
        <p:nvSpPr>
          <p:cNvPr id="8" name="Text 6"/>
          <p:cNvSpPr/>
          <p:nvPr/>
        </p:nvSpPr>
        <p:spPr>
          <a:xfrm>
            <a:off x="822960" y="4023360"/>
            <a:ext cx="3044952" cy="411480"/>
          </a:xfrm>
          <a:prstGeom prst="rect">
            <a:avLst/>
          </a:prstGeom>
          <a:noFill/>
          <a:ln/>
        </p:spPr>
        <p:txBody>
          <a:bodyPr wrap="square" rtlCol="0" anchor="ctr"/>
          <a:lstStyle/>
          <a:p>
            <a:pPr algn="ctr" indent="0" marL="0">
              <a:buNone/>
            </a:pPr>
            <a:r>
              <a:rPr lang="en-US" sz="1600" b="1" dirty="0">
                <a:solidFill>
                  <a:srgbClr val="1B1B2E"/>
                </a:solidFill>
                <a:latin typeface="Calibri" pitchFamily="34" charset="0"/>
                <a:ea typeface="Calibri" pitchFamily="34" charset="-122"/>
                <a:cs typeface="Calibri" pitchFamily="34" charset="-120"/>
              </a:rPr>
              <a:t>Harsh Parmar</a:t>
            </a:r>
            <a:endParaRPr lang="en-US" sz="1600" dirty="0"/>
          </a:p>
        </p:txBody>
      </p:sp>
      <p:sp>
        <p:nvSpPr>
          <p:cNvPr id="9" name="Text 7"/>
          <p:cNvSpPr/>
          <p:nvPr/>
        </p:nvSpPr>
        <p:spPr>
          <a:xfrm>
            <a:off x="822960" y="4434840"/>
            <a:ext cx="3044952" cy="365760"/>
          </a:xfrm>
          <a:prstGeom prst="rect">
            <a:avLst/>
          </a:prstGeom>
          <a:noFill/>
          <a:ln/>
        </p:spPr>
        <p:txBody>
          <a:bodyPr wrap="square" rtlCol="0" anchor="ctr"/>
          <a:lstStyle/>
          <a:p>
            <a:pPr algn="ctr" indent="0" marL="0">
              <a:buNone/>
            </a:pPr>
            <a:r>
              <a:rPr lang="en-US" sz="1200" b="1" dirty="0">
                <a:solidFill>
                  <a:srgbClr val="B32330"/>
                </a:solidFill>
                <a:latin typeface="Calibri" pitchFamily="34" charset="0"/>
                <a:ea typeface="Calibri" pitchFamily="34" charset="-122"/>
                <a:cs typeface="Calibri" pitchFamily="34" charset="-120"/>
              </a:rPr>
              <a:t>Founder &amp; Lead Developer</a:t>
            </a:r>
            <a:endParaRPr lang="en-US" sz="1200" dirty="0"/>
          </a:p>
        </p:txBody>
      </p:sp>
      <p:sp>
        <p:nvSpPr>
          <p:cNvPr id="10" name="Shape 8"/>
          <p:cNvSpPr/>
          <p:nvPr/>
        </p:nvSpPr>
        <p:spPr>
          <a:xfrm>
            <a:off x="1920240" y="4892040"/>
            <a:ext cx="850392" cy="0"/>
          </a:xfrm>
          <a:prstGeom prst="line">
            <a:avLst/>
          </a:prstGeom>
          <a:noFill/>
          <a:ln w="12700">
            <a:solidFill>
              <a:srgbClr val="E4E4EE"/>
            </a:solidFill>
            <a:prstDash val="solid"/>
          </a:ln>
        </p:spPr>
      </p:sp>
      <p:sp>
        <p:nvSpPr>
          <p:cNvPr id="11" name="Text 9"/>
          <p:cNvSpPr/>
          <p:nvPr/>
        </p:nvSpPr>
        <p:spPr>
          <a:xfrm>
            <a:off x="822960" y="4983480"/>
            <a:ext cx="3044952" cy="320040"/>
          </a:xfrm>
          <a:prstGeom prst="rect">
            <a:avLst/>
          </a:prstGeom>
          <a:noFill/>
          <a:ln/>
        </p:spPr>
        <p:txBody>
          <a:bodyPr wrap="square" rtlCol="0" anchor="ctr"/>
          <a:lstStyle/>
          <a:p>
            <a:pPr algn="ctr" indent="0" marL="0">
              <a:buNone/>
            </a:pPr>
            <a:r>
              <a:rPr lang="en-US" sz="950" dirty="0">
                <a:solidFill>
                  <a:srgbClr val="9394A8"/>
                </a:solidFill>
                <a:latin typeface="Calibri" pitchFamily="34" charset="0"/>
                <a:ea typeface="Calibri" pitchFamily="34" charset="-122"/>
                <a:cs typeface="Calibri" pitchFamily="34" charset="-120"/>
              </a:rPr>
              <a:t>Team RoadSoS_AI</a:t>
            </a:r>
            <a:endParaRPr lang="en-US" sz="950" dirty="0"/>
          </a:p>
        </p:txBody>
      </p:sp>
      <p:sp>
        <p:nvSpPr>
          <p:cNvPr id="12" name="Shape 10"/>
          <p:cNvSpPr/>
          <p:nvPr/>
        </p:nvSpPr>
        <p:spPr>
          <a:xfrm>
            <a:off x="4325112" y="2148840"/>
            <a:ext cx="3410712" cy="3291840"/>
          </a:xfrm>
          <a:prstGeom prst="roundRect">
            <a:avLst>
              <a:gd name="adj" fmla="val 2500"/>
            </a:avLst>
          </a:prstGeom>
          <a:solidFill>
            <a:srgbClr val="FFFFFF"/>
          </a:solidFill>
          <a:ln w="12700">
            <a:solidFill>
              <a:srgbClr val="E4E4EE"/>
            </a:solidFill>
            <a:prstDash val="solid"/>
          </a:ln>
        </p:spPr>
      </p:sp>
      <p:sp>
        <p:nvSpPr>
          <p:cNvPr id="13" name="Shape 11"/>
          <p:cNvSpPr/>
          <p:nvPr/>
        </p:nvSpPr>
        <p:spPr>
          <a:xfrm>
            <a:off x="5390388" y="2560320"/>
            <a:ext cx="1280160" cy="1280160"/>
          </a:xfrm>
          <a:prstGeom prst="ellipse">
            <a:avLst/>
          </a:prstGeom>
          <a:solidFill>
            <a:srgbClr val="E63946"/>
          </a:solidFill>
          <a:ln/>
        </p:spPr>
      </p:sp>
      <p:sp>
        <p:nvSpPr>
          <p:cNvPr id="14" name="Text 12"/>
          <p:cNvSpPr/>
          <p:nvPr/>
        </p:nvSpPr>
        <p:spPr>
          <a:xfrm>
            <a:off x="5390388" y="2560320"/>
            <a:ext cx="1280160" cy="128016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KA</a:t>
            </a:r>
            <a:endParaRPr lang="en-US" sz="3000" dirty="0"/>
          </a:p>
        </p:txBody>
      </p:sp>
      <p:sp>
        <p:nvSpPr>
          <p:cNvPr id="15" name="Text 13"/>
          <p:cNvSpPr/>
          <p:nvPr/>
        </p:nvSpPr>
        <p:spPr>
          <a:xfrm>
            <a:off x="4507992" y="4023360"/>
            <a:ext cx="3044952" cy="411480"/>
          </a:xfrm>
          <a:prstGeom prst="rect">
            <a:avLst/>
          </a:prstGeom>
          <a:noFill/>
          <a:ln/>
        </p:spPr>
        <p:txBody>
          <a:bodyPr wrap="square" rtlCol="0" anchor="ctr"/>
          <a:lstStyle/>
          <a:p>
            <a:pPr algn="ctr" indent="0" marL="0">
              <a:buNone/>
            </a:pPr>
            <a:r>
              <a:rPr lang="en-US" sz="1600" b="1" dirty="0">
                <a:solidFill>
                  <a:srgbClr val="1B1B2E"/>
                </a:solidFill>
                <a:latin typeface="Calibri" pitchFamily="34" charset="0"/>
                <a:ea typeface="Calibri" pitchFamily="34" charset="-122"/>
                <a:cs typeface="Calibri" pitchFamily="34" charset="-120"/>
              </a:rPr>
              <a:t>Kakshil Adeshara</a:t>
            </a:r>
            <a:endParaRPr lang="en-US" sz="1600" dirty="0"/>
          </a:p>
        </p:txBody>
      </p:sp>
      <p:sp>
        <p:nvSpPr>
          <p:cNvPr id="16" name="Text 14"/>
          <p:cNvSpPr/>
          <p:nvPr/>
        </p:nvSpPr>
        <p:spPr>
          <a:xfrm>
            <a:off x="4507992" y="4434840"/>
            <a:ext cx="3044952" cy="365760"/>
          </a:xfrm>
          <a:prstGeom prst="rect">
            <a:avLst/>
          </a:prstGeom>
          <a:noFill/>
          <a:ln/>
        </p:spPr>
        <p:txBody>
          <a:bodyPr wrap="square" rtlCol="0" anchor="ctr"/>
          <a:lstStyle/>
          <a:p>
            <a:pPr algn="ctr" indent="0" marL="0">
              <a:buNone/>
            </a:pPr>
            <a:r>
              <a:rPr lang="en-US" sz="1200" b="1" dirty="0">
                <a:solidFill>
                  <a:srgbClr val="B32330"/>
                </a:solidFill>
                <a:latin typeface="Calibri" pitchFamily="34" charset="0"/>
                <a:ea typeface="Calibri" pitchFamily="34" charset="-122"/>
                <a:cs typeface="Calibri" pitchFamily="34" charset="-120"/>
              </a:rPr>
              <a:t>AI &amp; Systems Engineer</a:t>
            </a:r>
            <a:endParaRPr lang="en-US" sz="1200" dirty="0"/>
          </a:p>
        </p:txBody>
      </p:sp>
      <p:sp>
        <p:nvSpPr>
          <p:cNvPr id="17" name="Shape 15"/>
          <p:cNvSpPr/>
          <p:nvPr/>
        </p:nvSpPr>
        <p:spPr>
          <a:xfrm>
            <a:off x="5605272" y="4892040"/>
            <a:ext cx="850392" cy="0"/>
          </a:xfrm>
          <a:prstGeom prst="line">
            <a:avLst/>
          </a:prstGeom>
          <a:noFill/>
          <a:ln w="12700">
            <a:solidFill>
              <a:srgbClr val="E4E4EE"/>
            </a:solidFill>
            <a:prstDash val="solid"/>
          </a:ln>
        </p:spPr>
      </p:sp>
      <p:sp>
        <p:nvSpPr>
          <p:cNvPr id="18" name="Text 16"/>
          <p:cNvSpPr/>
          <p:nvPr/>
        </p:nvSpPr>
        <p:spPr>
          <a:xfrm>
            <a:off x="4507992" y="4983480"/>
            <a:ext cx="3044952" cy="320040"/>
          </a:xfrm>
          <a:prstGeom prst="rect">
            <a:avLst/>
          </a:prstGeom>
          <a:noFill/>
          <a:ln/>
        </p:spPr>
        <p:txBody>
          <a:bodyPr wrap="square" rtlCol="0" anchor="ctr"/>
          <a:lstStyle/>
          <a:p>
            <a:pPr algn="ctr" indent="0" marL="0">
              <a:buNone/>
            </a:pPr>
            <a:r>
              <a:rPr lang="en-US" sz="950" dirty="0">
                <a:solidFill>
                  <a:srgbClr val="9394A8"/>
                </a:solidFill>
                <a:latin typeface="Calibri" pitchFamily="34" charset="0"/>
                <a:ea typeface="Calibri" pitchFamily="34" charset="-122"/>
                <a:cs typeface="Calibri" pitchFamily="34" charset="-120"/>
              </a:rPr>
              <a:t>Team RoadSoS_AI</a:t>
            </a:r>
            <a:endParaRPr lang="en-US" sz="950" dirty="0"/>
          </a:p>
        </p:txBody>
      </p:sp>
      <p:sp>
        <p:nvSpPr>
          <p:cNvPr id="19" name="Shape 17"/>
          <p:cNvSpPr/>
          <p:nvPr/>
        </p:nvSpPr>
        <p:spPr>
          <a:xfrm>
            <a:off x="8010144" y="2148840"/>
            <a:ext cx="3410712" cy="3291840"/>
          </a:xfrm>
          <a:prstGeom prst="roundRect">
            <a:avLst>
              <a:gd name="adj" fmla="val 2500"/>
            </a:avLst>
          </a:prstGeom>
          <a:solidFill>
            <a:srgbClr val="FFFFFF"/>
          </a:solidFill>
          <a:ln w="12700">
            <a:solidFill>
              <a:srgbClr val="E4E4EE"/>
            </a:solidFill>
            <a:prstDash val="solid"/>
          </a:ln>
        </p:spPr>
      </p:sp>
      <p:sp>
        <p:nvSpPr>
          <p:cNvPr id="20" name="Shape 18"/>
          <p:cNvSpPr/>
          <p:nvPr/>
        </p:nvSpPr>
        <p:spPr>
          <a:xfrm>
            <a:off x="9075420" y="2560320"/>
            <a:ext cx="1280160" cy="1280160"/>
          </a:xfrm>
          <a:prstGeom prst="ellipse">
            <a:avLst/>
          </a:prstGeom>
          <a:solidFill>
            <a:srgbClr val="E63946"/>
          </a:solidFill>
          <a:ln/>
        </p:spPr>
      </p:sp>
      <p:sp>
        <p:nvSpPr>
          <p:cNvPr id="21" name="Text 19"/>
          <p:cNvSpPr/>
          <p:nvPr/>
        </p:nvSpPr>
        <p:spPr>
          <a:xfrm>
            <a:off x="9075420" y="2560320"/>
            <a:ext cx="1280160" cy="128016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AJ</a:t>
            </a:r>
            <a:endParaRPr lang="en-US" sz="3000" dirty="0"/>
          </a:p>
        </p:txBody>
      </p:sp>
      <p:sp>
        <p:nvSpPr>
          <p:cNvPr id="22" name="Text 20"/>
          <p:cNvSpPr/>
          <p:nvPr/>
        </p:nvSpPr>
        <p:spPr>
          <a:xfrm>
            <a:off x="8193024" y="4023360"/>
            <a:ext cx="3044952" cy="411480"/>
          </a:xfrm>
          <a:prstGeom prst="rect">
            <a:avLst/>
          </a:prstGeom>
          <a:noFill/>
          <a:ln/>
        </p:spPr>
        <p:txBody>
          <a:bodyPr wrap="square" rtlCol="0" anchor="ctr"/>
          <a:lstStyle/>
          <a:p>
            <a:pPr algn="ctr" indent="0" marL="0">
              <a:buNone/>
            </a:pPr>
            <a:r>
              <a:rPr lang="en-US" sz="1600" b="1" dirty="0">
                <a:solidFill>
                  <a:srgbClr val="1B1B2E"/>
                </a:solidFill>
                <a:latin typeface="Calibri" pitchFamily="34" charset="0"/>
                <a:ea typeface="Calibri" pitchFamily="34" charset="-122"/>
                <a:cs typeface="Calibri" pitchFamily="34" charset="-120"/>
              </a:rPr>
              <a:t>Aum Joshi</a:t>
            </a:r>
            <a:endParaRPr lang="en-US" sz="1600" dirty="0"/>
          </a:p>
        </p:txBody>
      </p:sp>
      <p:sp>
        <p:nvSpPr>
          <p:cNvPr id="23" name="Text 21"/>
          <p:cNvSpPr/>
          <p:nvPr/>
        </p:nvSpPr>
        <p:spPr>
          <a:xfrm>
            <a:off x="8193024" y="4434840"/>
            <a:ext cx="3044952" cy="365760"/>
          </a:xfrm>
          <a:prstGeom prst="rect">
            <a:avLst/>
          </a:prstGeom>
          <a:noFill/>
          <a:ln/>
        </p:spPr>
        <p:txBody>
          <a:bodyPr wrap="square" rtlCol="0" anchor="ctr"/>
          <a:lstStyle/>
          <a:p>
            <a:pPr algn="ctr" indent="0" marL="0">
              <a:buNone/>
            </a:pPr>
            <a:r>
              <a:rPr lang="en-US" sz="1200" b="1" dirty="0">
                <a:solidFill>
                  <a:srgbClr val="B32330"/>
                </a:solidFill>
                <a:latin typeface="Calibri" pitchFamily="34" charset="0"/>
                <a:ea typeface="Calibri" pitchFamily="34" charset="-122"/>
                <a:cs typeface="Calibri" pitchFamily="34" charset="-120"/>
              </a:rPr>
              <a:t>App &amp; Backend Developer</a:t>
            </a:r>
            <a:endParaRPr lang="en-US" sz="1200" dirty="0"/>
          </a:p>
        </p:txBody>
      </p:sp>
      <p:sp>
        <p:nvSpPr>
          <p:cNvPr id="24" name="Shape 22"/>
          <p:cNvSpPr/>
          <p:nvPr/>
        </p:nvSpPr>
        <p:spPr>
          <a:xfrm>
            <a:off x="9290304" y="4892040"/>
            <a:ext cx="850392" cy="0"/>
          </a:xfrm>
          <a:prstGeom prst="line">
            <a:avLst/>
          </a:prstGeom>
          <a:noFill/>
          <a:ln w="12700">
            <a:solidFill>
              <a:srgbClr val="E4E4EE"/>
            </a:solidFill>
            <a:prstDash val="solid"/>
          </a:ln>
        </p:spPr>
      </p:sp>
      <p:sp>
        <p:nvSpPr>
          <p:cNvPr id="25" name="Text 23"/>
          <p:cNvSpPr/>
          <p:nvPr/>
        </p:nvSpPr>
        <p:spPr>
          <a:xfrm>
            <a:off x="8193024" y="4983480"/>
            <a:ext cx="3044952" cy="320040"/>
          </a:xfrm>
          <a:prstGeom prst="rect">
            <a:avLst/>
          </a:prstGeom>
          <a:noFill/>
          <a:ln/>
        </p:spPr>
        <p:txBody>
          <a:bodyPr wrap="square" rtlCol="0" anchor="ctr"/>
          <a:lstStyle/>
          <a:p>
            <a:pPr algn="ctr" indent="0" marL="0">
              <a:buNone/>
            </a:pPr>
            <a:r>
              <a:rPr lang="en-US" sz="950" dirty="0">
                <a:solidFill>
                  <a:srgbClr val="9394A8"/>
                </a:solidFill>
                <a:latin typeface="Calibri" pitchFamily="34" charset="0"/>
                <a:ea typeface="Calibri" pitchFamily="34" charset="-122"/>
                <a:cs typeface="Calibri" pitchFamily="34" charset="-120"/>
              </a:rPr>
              <a:t>Team RoadSoS_AI</a:t>
            </a:r>
            <a:endParaRPr lang="en-US" sz="950" dirty="0"/>
          </a:p>
        </p:txBody>
      </p:sp>
      <p:sp>
        <p:nvSpPr>
          <p:cNvPr id="26" name="Text 24"/>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7D7F99"/>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41F"/>
        </a:solidFill>
      </p:bgPr>
    </p:bg>
    <p:spTree>
      <p:nvGrpSpPr>
        <p:cNvPr id="1" name=""/>
        <p:cNvGrpSpPr/>
        <p:nvPr/>
      </p:nvGrpSpPr>
      <p:grpSpPr>
        <a:xfrm>
          <a:off x="0" y="0"/>
          <a:ext cx="0" cy="0"/>
          <a:chOff x="0" y="0"/>
          <a:chExt cx="0" cy="0"/>
        </a:xfrm>
      </p:grpSpPr>
      <p:sp>
        <p:nvSpPr>
          <p:cNvPr id="2" name="Shape 0"/>
          <p:cNvSpPr/>
          <p:nvPr/>
        </p:nvSpPr>
        <p:spPr>
          <a:xfrm>
            <a:off x="-1828800" y="-2286000"/>
            <a:ext cx="6400800" cy="6400800"/>
          </a:xfrm>
          <a:prstGeom prst="ellipse">
            <a:avLst/>
          </a:prstGeom>
          <a:solidFill>
            <a:srgbClr val="B32330">
              <a:alpha val="22000"/>
            </a:srgbClr>
          </a:solidFill>
          <a:ln/>
        </p:spPr>
      </p:sp>
      <p:sp>
        <p:nvSpPr>
          <p:cNvPr id="3" name="Shape 1"/>
          <p:cNvSpPr/>
          <p:nvPr/>
        </p:nvSpPr>
        <p:spPr>
          <a:xfrm>
            <a:off x="8229600" y="3200400"/>
            <a:ext cx="5486400" cy="5486400"/>
          </a:xfrm>
          <a:prstGeom prst="ellipse">
            <a:avLst/>
          </a:prstGeom>
          <a:solidFill>
            <a:srgbClr val="2F80ED">
              <a:alpha val="15000"/>
            </a:srgbClr>
          </a:solidFill>
          <a:ln/>
        </p:spPr>
      </p:sp>
      <p:sp>
        <p:nvSpPr>
          <p:cNvPr id="4" name="Text 2"/>
          <p:cNvSpPr/>
          <p:nvPr/>
        </p:nvSpPr>
        <p:spPr>
          <a:xfrm>
            <a:off x="822960" y="1371600"/>
            <a:ext cx="10515600" cy="100584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Shape 3"/>
          <p:cNvSpPr/>
          <p:nvPr/>
        </p:nvSpPr>
        <p:spPr>
          <a:xfrm>
            <a:off x="868680" y="2423160"/>
            <a:ext cx="2011680" cy="0"/>
          </a:xfrm>
          <a:prstGeom prst="line">
            <a:avLst/>
          </a:prstGeom>
          <a:noFill/>
          <a:ln w="38100">
            <a:solidFill>
              <a:srgbClr val="E63946"/>
            </a:solidFill>
            <a:prstDash val="solid"/>
          </a:ln>
        </p:spPr>
      </p:sp>
      <p:sp>
        <p:nvSpPr>
          <p:cNvPr id="6" name="Text 4"/>
          <p:cNvSpPr/>
          <p:nvPr/>
        </p:nvSpPr>
        <p:spPr>
          <a:xfrm>
            <a:off x="868680" y="2697480"/>
            <a:ext cx="9875520" cy="1188720"/>
          </a:xfrm>
          <a:prstGeom prst="rect">
            <a:avLst/>
          </a:prstGeom>
          <a:noFill/>
          <a:ln/>
        </p:spPr>
        <p:txBody>
          <a:bodyPr wrap="square" rtlCol="0" anchor="ctr"/>
          <a:lstStyle/>
          <a:p>
            <a:pPr indent="0" marL="0">
              <a:lnSpc>
                <a:spcPct val="125000"/>
              </a:lnSpc>
              <a:buNone/>
            </a:pPr>
            <a:r>
              <a:rPr lang="en-US" sz="2400" i="1" dirty="0">
                <a:solidFill>
                  <a:srgbClr val="F2F2F7"/>
                </a:solidFill>
                <a:latin typeface="Cambria" pitchFamily="34" charset="0"/>
                <a:ea typeface="Cambria" pitchFamily="34" charset="-122"/>
                <a:cs typeface="Cambria" pitchFamily="34" charset="-120"/>
              </a:rPr>
              <a:t>In the golden hour, </a:t>
            </a:r>
            <a:pPr indent="0" marL="0">
              <a:lnSpc>
                <a:spcPct val="125000"/>
              </a:lnSpc>
              <a:buNone/>
            </a:pPr>
            <a:r>
              <a:rPr lang="en-US" sz="2400" b="1" i="1" dirty="0">
                <a:solidFill>
                  <a:srgbClr val="E63946"/>
                </a:solidFill>
                <a:latin typeface="Cambria" pitchFamily="34" charset="0"/>
                <a:ea typeface="Cambria" pitchFamily="34" charset="-122"/>
                <a:cs typeface="Cambria" pitchFamily="34" charset="-120"/>
              </a:rPr>
              <a:t>RoadSoS_AI</a:t>
            </a:r>
            <a:pPr indent="0" marL="0">
              <a:lnSpc>
                <a:spcPct val="125000"/>
              </a:lnSpc>
              <a:buNone/>
            </a:pPr>
            <a:r>
              <a:rPr lang="en-US" sz="2400" i="1" dirty="0">
                <a:solidFill>
                  <a:srgbClr val="F2F2F7"/>
                </a:solidFill>
                <a:latin typeface="Cambria" pitchFamily="34" charset="0"/>
                <a:ea typeface="Cambria" pitchFamily="34" charset="-122"/>
                <a:cs typeface="Cambria" pitchFamily="34" charset="-120"/>
              </a:rPr>
              <a:t> doesn't wait for help.</a:t>
            </a:r>
            <a:endParaRPr lang="en-US" sz="2400" dirty="0"/>
          </a:p>
          <a:p>
            <a:pPr indent="0" marL="0">
              <a:lnSpc>
                <a:spcPct val="125000"/>
              </a:lnSpc>
              <a:buNone/>
            </a:pPr>
            <a:r>
              <a:rPr lang="en-US" sz="2400" i="1" dirty="0">
                <a:solidFill>
                  <a:srgbClr val="F2F2F7"/>
                </a:solidFill>
                <a:latin typeface="Cambria" pitchFamily="34" charset="0"/>
                <a:ea typeface="Cambria" pitchFamily="34" charset="-122"/>
                <a:cs typeface="Cambria" pitchFamily="34" charset="-120"/>
              </a:rPr>
              <a:t>It becomes the help.</a:t>
            </a:r>
            <a:endParaRPr lang="en-US" sz="2400" dirty="0"/>
          </a:p>
        </p:txBody>
      </p:sp>
      <p:sp>
        <p:nvSpPr>
          <p:cNvPr id="7" name="Shape 5"/>
          <p:cNvSpPr/>
          <p:nvPr/>
        </p:nvSpPr>
        <p:spPr>
          <a:xfrm>
            <a:off x="868680" y="4434840"/>
            <a:ext cx="10058400" cy="1371600"/>
          </a:xfrm>
          <a:prstGeom prst="roundRect">
            <a:avLst>
              <a:gd name="adj" fmla="val 6000"/>
            </a:avLst>
          </a:prstGeom>
          <a:solidFill>
            <a:srgbClr val="1E1E33"/>
          </a:solidFill>
          <a:ln/>
        </p:spPr>
      </p:sp>
      <p:sp>
        <p:nvSpPr>
          <p:cNvPr id="8" name="Shape 6"/>
          <p:cNvSpPr/>
          <p:nvPr/>
        </p:nvSpPr>
        <p:spPr>
          <a:xfrm>
            <a:off x="1097280" y="4754880"/>
            <a:ext cx="731520" cy="731520"/>
          </a:xfrm>
          <a:prstGeom prst="ellipse">
            <a:avLst/>
          </a:prstGeom>
          <a:solidFill>
            <a:srgbClr val="2F80ED"/>
          </a:solidFill>
          <a:ln/>
        </p:spPr>
      </p:sp>
      <p:pic>
        <p:nvPicPr>
          <p:cNvPr id="9" name="Image 0" descr="/home/claude/roadsos_deck/icons/code.png">    </p:cNvPr>
          <p:cNvPicPr>
            <a:picLocks noChangeAspect="1"/>
          </p:cNvPicPr>
          <p:nvPr/>
        </p:nvPicPr>
        <p:blipFill>
          <a:blip r:embed="rId1"/>
          <a:stretch>
            <a:fillRect/>
          </a:stretch>
        </p:blipFill>
        <p:spPr>
          <a:xfrm>
            <a:off x="1192378" y="4849978"/>
            <a:ext cx="541325" cy="541325"/>
          </a:xfrm>
          <a:prstGeom prst="rect">
            <a:avLst/>
          </a:prstGeom>
        </p:spPr>
      </p:pic>
      <p:sp>
        <p:nvSpPr>
          <p:cNvPr id="10" name="Text 7"/>
          <p:cNvSpPr/>
          <p:nvPr/>
        </p:nvSpPr>
        <p:spPr>
          <a:xfrm>
            <a:off x="2057400" y="4636008"/>
            <a:ext cx="3657600" cy="365760"/>
          </a:xfrm>
          <a:prstGeom prst="rect">
            <a:avLst/>
          </a:prstGeom>
          <a:noFill/>
          <a:ln/>
        </p:spPr>
        <p:txBody>
          <a:bodyPr wrap="square" rtlCol="0" anchor="ctr"/>
          <a:lstStyle/>
          <a:p>
            <a:pPr indent="0" marL="0">
              <a:buNone/>
            </a:pPr>
            <a:r>
              <a:rPr lang="en-US" sz="1100" b="1" spc="100" kern="0" dirty="0">
                <a:solidFill>
                  <a:srgbClr val="A7A9BE"/>
                </a:solidFill>
                <a:latin typeface="Calibri" pitchFamily="34" charset="0"/>
                <a:ea typeface="Calibri" pitchFamily="34" charset="-122"/>
                <a:cs typeface="Calibri" pitchFamily="34" charset="-120"/>
              </a:rPr>
              <a:t>GitHub Repository</a:t>
            </a:r>
            <a:endParaRPr lang="en-US" sz="1100" dirty="0"/>
          </a:p>
        </p:txBody>
      </p:sp>
      <p:sp>
        <p:nvSpPr>
          <p:cNvPr id="11" name="Text 8"/>
          <p:cNvSpPr/>
          <p:nvPr/>
        </p:nvSpPr>
        <p:spPr>
          <a:xfrm>
            <a:off x="2057400" y="4965192"/>
            <a:ext cx="548640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github.com/HarshParmar029/RoadSoS_AI</a:t>
            </a:r>
            <a:endParaRPr lang="en-US" sz="1500" dirty="0"/>
          </a:p>
        </p:txBody>
      </p:sp>
      <p:sp>
        <p:nvSpPr>
          <p:cNvPr id="12" name="Shape 9"/>
          <p:cNvSpPr/>
          <p:nvPr/>
        </p:nvSpPr>
        <p:spPr>
          <a:xfrm>
            <a:off x="6675120" y="4754880"/>
            <a:ext cx="731520" cy="731520"/>
          </a:xfrm>
          <a:prstGeom prst="ellipse">
            <a:avLst/>
          </a:prstGeom>
          <a:solidFill>
            <a:srgbClr val="E63946"/>
          </a:solidFill>
          <a:ln/>
        </p:spPr>
      </p:sp>
      <p:pic>
        <p:nvPicPr>
          <p:cNvPr id="13" name="Image 1" descr="/home/claude/roadsos_deck/icons/users.png">    </p:cNvPr>
          <p:cNvPicPr>
            <a:picLocks noChangeAspect="1"/>
          </p:cNvPicPr>
          <p:nvPr/>
        </p:nvPicPr>
        <p:blipFill>
          <a:blip r:embed="rId2"/>
          <a:stretch>
            <a:fillRect/>
          </a:stretch>
        </p:blipFill>
        <p:spPr>
          <a:xfrm>
            <a:off x="6770218" y="4849978"/>
            <a:ext cx="541325" cy="541325"/>
          </a:xfrm>
          <a:prstGeom prst="rect">
            <a:avLst/>
          </a:prstGeom>
        </p:spPr>
      </p:pic>
      <p:sp>
        <p:nvSpPr>
          <p:cNvPr id="14" name="Text 10"/>
          <p:cNvSpPr/>
          <p:nvPr/>
        </p:nvSpPr>
        <p:spPr>
          <a:xfrm>
            <a:off x="7635240" y="4636008"/>
            <a:ext cx="3657600" cy="365760"/>
          </a:xfrm>
          <a:prstGeom prst="rect">
            <a:avLst/>
          </a:prstGeom>
          <a:noFill/>
          <a:ln/>
        </p:spPr>
        <p:txBody>
          <a:bodyPr wrap="square" rtlCol="0" anchor="ctr"/>
          <a:lstStyle/>
          <a:p>
            <a:pPr indent="0" marL="0">
              <a:buNone/>
            </a:pPr>
            <a:r>
              <a:rPr lang="en-US" sz="1100" b="1" spc="100" kern="0" dirty="0">
                <a:solidFill>
                  <a:srgbClr val="A7A9BE"/>
                </a:solidFill>
                <a:latin typeface="Calibri" pitchFamily="34" charset="0"/>
                <a:ea typeface="Calibri" pitchFamily="34" charset="-122"/>
                <a:cs typeface="Calibri" pitchFamily="34" charset="-120"/>
              </a:rPr>
              <a:t>Team</a:t>
            </a:r>
            <a:endParaRPr lang="en-US" sz="1100" dirty="0"/>
          </a:p>
        </p:txBody>
      </p:sp>
      <p:sp>
        <p:nvSpPr>
          <p:cNvPr id="15" name="Text 11"/>
          <p:cNvSpPr/>
          <p:nvPr/>
        </p:nvSpPr>
        <p:spPr>
          <a:xfrm>
            <a:off x="7635240" y="4965192"/>
            <a:ext cx="365760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Harsh · Kakshil · Aum</a:t>
            </a:r>
            <a:endParaRPr lang="en-US" sz="1500" dirty="0"/>
          </a:p>
        </p:txBody>
      </p:sp>
      <p:sp>
        <p:nvSpPr>
          <p:cNvPr id="16" name="Text 12"/>
          <p:cNvSpPr/>
          <p:nvPr/>
        </p:nvSpPr>
        <p:spPr>
          <a:xfrm>
            <a:off x="868680" y="6263640"/>
            <a:ext cx="10058400" cy="365760"/>
          </a:xfrm>
          <a:prstGeom prst="rect">
            <a:avLst/>
          </a:prstGeom>
          <a:noFill/>
          <a:ln/>
        </p:spPr>
        <p:txBody>
          <a:bodyPr wrap="square" rtlCol="0" anchor="ctr"/>
          <a:lstStyle/>
          <a:p>
            <a:pPr indent="0" marL="0">
              <a:buNone/>
            </a:pPr>
            <a:r>
              <a:rPr lang="en-US" sz="1100" dirty="0">
                <a:solidFill>
                  <a:srgbClr val="7D7F99"/>
                </a:solidFill>
                <a:latin typeface="Calibri" pitchFamily="34" charset="0"/>
                <a:ea typeface="Calibri" pitchFamily="34" charset="-122"/>
                <a:cs typeface="Calibri" pitchFamily="34" charset="-120"/>
              </a:rPr>
              <a:t>Infinity Hacks 2026 — Road Safety Track</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2026-08-09T14:15:06Z</dcterms:created>
  <dcterms:modified xsi:type="dcterms:W3CDTF">2026-08-09T14:15:06Z</dcterms:modified>
</cp:coreProperties>
</file>