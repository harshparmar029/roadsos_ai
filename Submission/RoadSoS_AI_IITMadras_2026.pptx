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796" y="1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5021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3474720" y="-1097280"/>
            <a:ext cx="5943600" cy="5943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1828800" y="1828800"/>
            <a:ext cx="4572000" cy="4572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926080" y="201168"/>
            <a:ext cx="3291840" cy="402336"/>
          </a:xfrm>
          <a:prstGeom prst="roundRect">
            <a:avLst>
              <a:gd name="adj" fmla="val 27273"/>
            </a:avLst>
          </a:prstGeom>
          <a:solidFill>
            <a:srgbClr val="1C0A12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926080" y="20116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5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ROAD SAFETY HACKATHON 2026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-457200" y="9601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kern="0" spc="1000" dirty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rgbClr val="1414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ROADSOSAI</a:t>
            </a:r>
            <a:endParaRPr lang="en-US" sz="13000" dirty="0">
              <a:ln>
                <a:solidFill>
                  <a:schemeClr val="bg2">
                    <a:lumMod val="25000"/>
                  </a:schemeClr>
                </a:solidFill>
              </a:ln>
            </a:endParaRPr>
          </a:p>
        </p:txBody>
      </p:sp>
      <p:sp>
        <p:nvSpPr>
          <p:cNvPr id="13" name="Shape 9"/>
          <p:cNvSpPr/>
          <p:nvPr/>
        </p:nvSpPr>
        <p:spPr>
          <a:xfrm>
            <a:off x="3840480" y="749808"/>
            <a:ext cx="1463040" cy="1463040"/>
          </a:xfrm>
          <a:prstGeom prst="ellipse">
            <a:avLst/>
          </a:prstGeom>
          <a:solidFill>
            <a:srgbClr val="200008"/>
          </a:solidFill>
          <a:ln w="25400">
            <a:solidFill>
              <a:srgbClr val="C0143C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133088" y="1042416"/>
            <a:ext cx="877824" cy="877824"/>
          </a:xfrm>
          <a:prstGeom prst="ellipse">
            <a:avLst/>
          </a:prstGeom>
          <a:solidFill>
            <a:srgbClr val="C0143C"/>
          </a:solidFill>
          <a:ln w="12700">
            <a:solidFill>
              <a:srgbClr val="E8183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33088" y="1024128"/>
            <a:ext cx="8778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🚨</a:t>
            </a:r>
            <a:endParaRPr lang="en-US" sz="3200" dirty="0"/>
          </a:p>
        </p:txBody>
      </p:sp>
      <p:sp>
        <p:nvSpPr>
          <p:cNvPr id="16" name="Text 12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RoadSoS AI</a:t>
            </a:r>
            <a:endParaRPr lang="en-US" sz="7600" dirty="0"/>
          </a:p>
        </p:txBody>
      </p:sp>
      <p:sp>
        <p:nvSpPr>
          <p:cNvPr id="17" name="Shape 13"/>
          <p:cNvSpPr/>
          <p:nvPr/>
        </p:nvSpPr>
        <p:spPr>
          <a:xfrm>
            <a:off x="3017520" y="2907792"/>
            <a:ext cx="3108960" cy="5943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3035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Guardian on the Road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1097280" y="3547872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Emergency Response System engineered to instantly alert, locate &amp; assist.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502920" y="4114800"/>
            <a:ext cx="8138160" cy="868680"/>
          </a:xfrm>
          <a:prstGeom prst="rect">
            <a:avLst/>
          </a:prstGeom>
          <a:solidFill>
            <a:srgbClr val="0F0F18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480560" y="4187952"/>
            <a:ext cx="0" cy="722376"/>
          </a:xfrm>
          <a:prstGeom prst="line">
            <a:avLst/>
          </a:prstGeom>
          <a:noFill/>
          <a:ln w="12700">
            <a:solidFill>
              <a:srgbClr val="2A2A3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5800" y="41605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BIMSTEC COUNTRIES &amp; IIT MADRAS (CoERS)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85800" y="4425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for Road Safety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at IIT Madras Campus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663440" y="4160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&amp; PRESENTED BY: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663440" y="442569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Parmar</a:t>
            </a: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(Team Leader)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Mirali Sankaliya</a:t>
            </a: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(Team Partner)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029200" y="-457200"/>
            <a:ext cx="4572000" cy="3657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914400" y="292608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2608" y="164592"/>
            <a:ext cx="54864" cy="47548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371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Harsh Reality of Road Accidents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583680" y="18288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0" y="182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CRISIS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4846320"/>
            <a:ext cx="9144000" cy="25603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ROADSOS AI  |  CRASH ANALYTICS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70916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HACKATHON 2026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92608" y="822960"/>
            <a:ext cx="3474720" cy="23774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92608" y="822960"/>
            <a:ext cx="3474720" cy="6400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92608" y="10058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E81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150K+</a:t>
            </a:r>
            <a:endParaRPr lang="en-US" sz="6600" dirty="0"/>
          </a:p>
        </p:txBody>
      </p:sp>
      <p:sp>
        <p:nvSpPr>
          <p:cNvPr id="15" name="Text 11"/>
          <p:cNvSpPr/>
          <p:nvPr/>
        </p:nvSpPr>
        <p:spPr>
          <a:xfrm>
            <a:off x="292608" y="19933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Lost Annually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92608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preventable Indian highway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city road accidents (MoRTH).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92608" y="3310128"/>
            <a:ext cx="3474720" cy="1298448"/>
          </a:xfrm>
          <a:prstGeom prst="rect">
            <a:avLst/>
          </a:prstGeom>
          <a:solidFill>
            <a:srgbClr val="0C1A0E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84048" y="335584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The Golden Hour Critical Rule:  </a:t>
            </a: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aid within the first 60 minutes can slash crash fatality rates by up to 50%.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041648" y="822960"/>
            <a:ext cx="48463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133088" y="987552"/>
            <a:ext cx="493776" cy="493776"/>
          </a:xfrm>
          <a:prstGeom prst="ellipse">
            <a:avLst/>
          </a:prstGeom>
          <a:solidFill>
            <a:srgbClr val="20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97680" y="1124712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736592" y="88696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Delayed Emergency Response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736592" y="121615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discovery &amp; dispatch lags kill critically injured victims.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041648" y="1783080"/>
            <a:ext cx="48463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133088" y="1947672"/>
            <a:ext cx="493776" cy="493776"/>
          </a:xfrm>
          <a:prstGeom prst="ellipse">
            <a:avLst/>
          </a:prstGeom>
          <a:solidFill>
            <a:srgbClr val="20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297680" y="2084832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36592" y="184708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Panic Leads to Wrong Choices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736592" y="217627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fail to coordinate calls or provide correct geo-locations.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041648" y="2743200"/>
            <a:ext cx="48463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133088" y="2907792"/>
            <a:ext cx="493776" cy="493776"/>
          </a:xfrm>
          <a:prstGeom prst="ellipse">
            <a:avLst/>
          </a:prstGeom>
          <a:solidFill>
            <a:srgbClr val="20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297680" y="3044952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736592" y="280720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Support for Unconscious Drivers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4736592" y="313639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Fatal single-vehicle incidents remain undetected for hours.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4041648" y="3703320"/>
            <a:ext cx="4846320" cy="8229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133088" y="3867912"/>
            <a:ext cx="493776" cy="493776"/>
          </a:xfrm>
          <a:prstGeom prst="ellipse">
            <a:avLst/>
          </a:prstGeom>
          <a:solidFill>
            <a:srgbClr val="20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297680" y="4005072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736592" y="376732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Integrated Emergency Platform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4736592" y="40965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Disjointed apps, no real-time AI guidance, no family alerting.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292608" y="4626864"/>
            <a:ext cx="3474720" cy="182880"/>
          </a:xfrm>
          <a:prstGeom prst="rect">
            <a:avLst/>
          </a:prstGeom>
          <a:solidFill>
            <a:srgbClr val="120006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292608" y="462686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1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BIMSTEC countries face the same crisis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029200" y="-457200"/>
            <a:ext cx="4572000" cy="3657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914400" y="292608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2608" y="164592"/>
            <a:ext cx="54864" cy="47548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371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RoadSoS AI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583680" y="18288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0" y="182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VALUE PROP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4846320"/>
            <a:ext cx="9144000" cy="25603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ROADSOS AI  |  MISSION &amp; FLOW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70916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HACKATHON 2026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57200" y="7772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platform acts as a digital co-pilot — monitoring, detecting &amp; dispatching rescue resources in a fully automated cycle without requiring human interaction.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" y="1536192"/>
            <a:ext cx="2834640" cy="2999232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74320" y="1536192"/>
            <a:ext cx="64008" cy="299923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8912" y="1664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20299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438912" y="2743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Detection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438912" y="331012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Employs dynamic sensor fusion &amp; vocal stress markers to identify crash profiles instantly and accurately.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246120" y="1536192"/>
            <a:ext cx="2834640" cy="2999232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246120" y="1536192"/>
            <a:ext cx="64008" cy="299923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10712" y="1664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3410712" y="20299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🚨</a:t>
            </a:r>
            <a:endParaRPr lang="en-US" sz="3000" dirty="0"/>
          </a:p>
        </p:txBody>
      </p:sp>
      <p:sp>
        <p:nvSpPr>
          <p:cNvPr id="23" name="Text 19"/>
          <p:cNvSpPr/>
          <p:nvPr/>
        </p:nvSpPr>
        <p:spPr>
          <a:xfrm>
            <a:off x="3410712" y="2743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Intelligent Alerts</a:t>
            </a:r>
            <a:endParaRPr lang="en-US" sz="1700" dirty="0"/>
          </a:p>
        </p:txBody>
      </p:sp>
      <p:sp>
        <p:nvSpPr>
          <p:cNvPr id="24" name="Text 20"/>
          <p:cNvSpPr/>
          <p:nvPr/>
        </p:nvSpPr>
        <p:spPr>
          <a:xfrm>
            <a:off x="3410712" y="331012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communication latency, streaming emergency packets with precise coordinates to your circle &amp; services.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217920" y="1536192"/>
            <a:ext cx="2834640" cy="2999232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1536192"/>
            <a:ext cx="64008" cy="299923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382512" y="166420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382512" y="20299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9" name="Text 25"/>
          <p:cNvSpPr/>
          <p:nvPr/>
        </p:nvSpPr>
        <p:spPr>
          <a:xfrm>
            <a:off x="6382512" y="27432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Guided Survival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6382512" y="331012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an interactive AI first-aid system to direct immediate safety steps to on-scene bystanders and victims.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274320" y="4645152"/>
            <a:ext cx="2103120" cy="182880"/>
          </a:xfrm>
          <a:prstGeom prst="rect">
            <a:avLst/>
          </a:prstGeom>
          <a:solidFill>
            <a:srgbClr val="14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74320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 ·  Protection System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2514600" y="4645152"/>
            <a:ext cx="2103120" cy="182880"/>
          </a:xfrm>
          <a:prstGeom prst="rect">
            <a:avLst/>
          </a:prstGeom>
          <a:solidFill>
            <a:srgbClr val="14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514600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 ·  Offline Capable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754880" y="4645152"/>
            <a:ext cx="2103120" cy="182880"/>
          </a:xfrm>
          <a:prstGeom prst="rect">
            <a:avLst/>
          </a:prstGeom>
          <a:solidFill>
            <a:srgbClr val="14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754880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&lt;10s  ·  Emergency Trigger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6995160" y="4645152"/>
            <a:ext cx="2103120" cy="182880"/>
          </a:xfrm>
          <a:prstGeom prst="rect">
            <a:avLst/>
          </a:prstGeom>
          <a:solidFill>
            <a:srgbClr val="14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995160" y="46451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8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BIMSTEC  ·  Ready to Scale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029200" y="-457200"/>
            <a:ext cx="4572000" cy="3657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914400" y="292608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2608" y="164592"/>
            <a:ext cx="54864" cy="47548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371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Powerful Life-Saving Features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583680" y="18288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0" y="182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POWER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4846320"/>
            <a:ext cx="9144000" cy="25603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ROADSOS AI  |  CORE ENGINE CAPABILITIES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70916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HACKATHON 2026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56032" y="822960"/>
            <a:ext cx="2788920" cy="12344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6032" y="822960"/>
            <a:ext cx="50292" cy="123444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7472" y="1069848"/>
            <a:ext cx="594360" cy="594360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143000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2416" y="91440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Voice-Activated SOS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42416" y="128016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"Accident ho gaya" — emergency triggers instantly with AI keyword recognition.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246120" y="822960"/>
            <a:ext cx="2788920" cy="12344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246120" y="822960"/>
            <a:ext cx="50292" cy="123444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337560" y="1069848"/>
            <a:ext cx="594360" cy="594360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114300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32504" y="91440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Fake "108" Incoming Call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032504" y="128016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realistic ambulance call to help victims ward off danger or call for help.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236208" y="822960"/>
            <a:ext cx="2788920" cy="12344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236208" y="822960"/>
            <a:ext cx="50292" cy="123444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327648" y="1069848"/>
            <a:ext cx="594360" cy="594360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1143000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22592" y="914400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Crash Detection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022592" y="128016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&amp; gyroscope detect high-G impact events — SOS fires with zero manual input.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256032" y="2212848"/>
            <a:ext cx="2788920" cy="12344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56032" y="2212848"/>
            <a:ext cx="50292" cy="123444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47472" y="2459736"/>
            <a:ext cx="594360" cy="594360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2532888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42416" y="2304288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Nearby Services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1042416" y="2670048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closest trauma hospitals, police outposts &amp; ambulance services with one-tap call.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3246120" y="2212848"/>
            <a:ext cx="2788920" cy="12344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3246120" y="2212848"/>
            <a:ext cx="50292" cy="123444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337560" y="2459736"/>
            <a:ext cx="594360" cy="594360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2532888"/>
            <a:ext cx="438912" cy="4389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032504" y="2304288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Family Stream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4032504" y="2670048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Synchronizes real-time travel corridors &amp; active GPS coordinates with your trusted contacts.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6236208" y="2212848"/>
            <a:ext cx="2788920" cy="12344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6236208" y="2212848"/>
            <a:ext cx="50292" cy="123444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327648" y="2459736"/>
            <a:ext cx="594360" cy="594360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2532888"/>
            <a:ext cx="438912" cy="43891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022592" y="2304288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First-Aid AI Chatbot</a:t>
            </a:r>
            <a:endParaRPr lang="en-US" sz="1250" dirty="0"/>
          </a:p>
        </p:txBody>
      </p:sp>
      <p:sp>
        <p:nvSpPr>
          <p:cNvPr id="47" name="Text 37"/>
          <p:cNvSpPr/>
          <p:nvPr/>
        </p:nvSpPr>
        <p:spPr>
          <a:xfrm>
            <a:off x="7022592" y="2670048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gives on-the-spot triage guidance &amp; step-by-step first-aid during medical wait.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256032" y="3602736"/>
            <a:ext cx="2788920" cy="12344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256032" y="3602736"/>
            <a:ext cx="50292" cy="123444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347472" y="3849624"/>
            <a:ext cx="594360" cy="594360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24" y="3922776"/>
            <a:ext cx="438912" cy="43891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042416" y="3694176"/>
            <a:ext cx="1892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WhatsApp &amp; SMS Alert</a:t>
            </a:r>
            <a:endParaRPr lang="en-US" sz="1250" dirty="0"/>
          </a:p>
        </p:txBody>
      </p:sp>
      <p:sp>
        <p:nvSpPr>
          <p:cNvPr id="53" name="Text 42"/>
          <p:cNvSpPr/>
          <p:nvPr/>
        </p:nvSpPr>
        <p:spPr>
          <a:xfrm>
            <a:off x="1042416" y="4059936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emergency broadcast with live location — zero typing, zero delay, works offline too.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029200" y="-457200"/>
            <a:ext cx="4572000" cy="3657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914400" y="292608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2608" y="164592"/>
            <a:ext cx="54864" cy="47548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371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6" name="Shape 2"/>
          <p:cNvSpPr/>
          <p:nvPr/>
        </p:nvSpPr>
        <p:spPr>
          <a:xfrm>
            <a:off x="6583680" y="18288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0" y="182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STACK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4846320"/>
            <a:ext cx="9144000" cy="25603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ROADSOS AI  |  STRUCTURAL PIPELINE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70916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HACKATHON 2026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274320" y="8229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3-LAYER PROTECTION LOOP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74320" y="1234440"/>
            <a:ext cx="4937760" cy="932688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472" y="1490472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7472" y="14904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L1: VOICE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74336" y="1545336"/>
            <a:ext cx="201168" cy="201168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417320" y="13258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Speech Analysis Loop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417320" y="16916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offline audio parsing to capture user panic trigger keywords instantly.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74320" y="2331720"/>
            <a:ext cx="4937760" cy="932688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47472" y="2587752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47472" y="25877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L2: SHAKE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974336" y="2642616"/>
            <a:ext cx="201168" cy="201168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417320" y="24231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Device Shake Escort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141732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precious manual execution steps. Simply shake 3× the phone to signal distress.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74320" y="3429000"/>
            <a:ext cx="4937760" cy="932688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47472" y="3685032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" y="36850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L3: CRASH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974336" y="3739896"/>
            <a:ext cx="201168" cy="201168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417320" y="352044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G-Force Sensor Detection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1417320" y="3886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algorithms match hardware accelerometer data profiles to serious crash dynamics.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440680" y="822960"/>
            <a:ext cx="3429000" cy="361188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5532120" y="91440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532120" y="1371600"/>
            <a:ext cx="1572768" cy="804672"/>
          </a:xfrm>
          <a:prstGeom prst="rect">
            <a:avLst/>
          </a:prstGeom>
          <a:solidFill>
            <a:srgbClr val="0F0F18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532120" y="14264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⚛️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5532120" y="17739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Flutter SDK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5532120" y="19659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iOS &amp; Android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223760" y="1371600"/>
            <a:ext cx="1572768" cy="804672"/>
          </a:xfrm>
          <a:prstGeom prst="rect">
            <a:avLst/>
          </a:prstGeom>
          <a:solidFill>
            <a:srgbClr val="0F0F18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7223760" y="142646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39" name="Text 35"/>
          <p:cNvSpPr/>
          <p:nvPr/>
        </p:nvSpPr>
        <p:spPr>
          <a:xfrm>
            <a:off x="7223760" y="177393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 LLM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7223760" y="19659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Speech-to-Text + TTS</a:t>
            </a:r>
            <a:endParaRPr lang="en-US" sz="850" dirty="0"/>
          </a:p>
        </p:txBody>
      </p:sp>
      <p:sp>
        <p:nvSpPr>
          <p:cNvPr id="41" name="Shape 37"/>
          <p:cNvSpPr/>
          <p:nvPr/>
        </p:nvSpPr>
        <p:spPr>
          <a:xfrm>
            <a:off x="5532120" y="2331720"/>
            <a:ext cx="1572768" cy="804672"/>
          </a:xfrm>
          <a:prstGeom prst="rect">
            <a:avLst/>
          </a:prstGeom>
          <a:solidFill>
            <a:srgbClr val="0F0F18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532120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43" name="Text 39"/>
          <p:cNvSpPr/>
          <p:nvPr/>
        </p:nvSpPr>
        <p:spPr>
          <a:xfrm>
            <a:off x="5532120" y="273405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Geolocator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5532120" y="29260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+ Google Maps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7223760" y="2331720"/>
            <a:ext cx="1572768" cy="804672"/>
          </a:xfrm>
          <a:prstGeom prst="rect">
            <a:avLst/>
          </a:prstGeom>
          <a:solidFill>
            <a:srgbClr val="0F0F18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7223760" y="23865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47" name="Text 43"/>
          <p:cNvSpPr/>
          <p:nvPr/>
        </p:nvSpPr>
        <p:spPr>
          <a:xfrm>
            <a:off x="7223760" y="273405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Device Sensors</a:t>
            </a:r>
            <a:endParaRPr lang="en-US" sz="1050" dirty="0"/>
          </a:p>
        </p:txBody>
      </p:sp>
      <p:sp>
        <p:nvSpPr>
          <p:cNvPr id="48" name="Text 44"/>
          <p:cNvSpPr/>
          <p:nvPr/>
        </p:nvSpPr>
        <p:spPr>
          <a:xfrm>
            <a:off x="7223760" y="292608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&amp; shake accelerometer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5440680" y="3291840"/>
            <a:ext cx="3429000" cy="502920"/>
          </a:xfrm>
          <a:prstGeom prst="rect">
            <a:avLst/>
          </a:prstGeom>
          <a:solidFill>
            <a:srgbClr val="0A1A0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440680" y="32918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 Works Offline! Zero network packet survival path.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274320" y="4507992"/>
            <a:ext cx="8595360" cy="292608"/>
          </a:xfrm>
          <a:prstGeom prst="rect">
            <a:avLst/>
          </a:prstGeom>
          <a:solidFill>
            <a:srgbClr val="0A1A0E"/>
          </a:solidFill>
          <a:ln w="12700">
            <a:solidFill>
              <a:srgbClr val="2A5A2A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274320" y="45079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Offline Mode Support — Emergency response works without internet in dead zones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5029200" y="-457200"/>
            <a:ext cx="4572000" cy="3657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914400" y="2926080"/>
            <a:ext cx="3657600" cy="36576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92608" y="164592"/>
            <a:ext cx="54864" cy="47548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37160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Innovation &amp; Expected Impact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6583680" y="182880"/>
            <a:ext cx="2286000" cy="384048"/>
          </a:xfrm>
          <a:prstGeom prst="roundRect">
            <a:avLst>
              <a:gd name="adj" fmla="val 28571"/>
            </a:avLst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583680" y="182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OUTCOMES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4846320"/>
            <a:ext cx="9144000" cy="25603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2004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ROADSOS AI  |  SOCIAL IMPACT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4709160" y="4873752"/>
            <a:ext cx="4114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MADRAS HACKATHON 2026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274320" y="804672"/>
            <a:ext cx="4160520" cy="1115568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4320" y="804672"/>
            <a:ext cx="64008" cy="111556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896112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1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40–60%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2011680" y="8778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Faster Dispatch Response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011680" y="12618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Golden Hour transport &amp; reducing casualty figures across accident-prone corridors.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74320" y="2066544"/>
            <a:ext cx="4160520" cy="1115568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2066544"/>
            <a:ext cx="64008" cy="111556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2157984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1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3-L</a:t>
            </a:r>
            <a:endParaRPr lang="en-US" sz="4000" dirty="0"/>
          </a:p>
        </p:txBody>
      </p:sp>
      <p:sp>
        <p:nvSpPr>
          <p:cNvPr id="20" name="Text 16"/>
          <p:cNvSpPr/>
          <p:nvPr/>
        </p:nvSpPr>
        <p:spPr>
          <a:xfrm>
            <a:off x="2011680" y="213969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Fail-Safe Protection Loop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011680" y="25237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verification shields against isolated sensor bugs — no single point of failure.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3328416"/>
            <a:ext cx="4160520" cy="1115568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74320" y="3328416"/>
            <a:ext cx="64008" cy="111556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" y="3419856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18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1B+</a:t>
            </a:r>
            <a:endParaRPr lang="en-US" sz="4000" dirty="0"/>
          </a:p>
        </p:txBody>
      </p:sp>
      <p:sp>
        <p:nvSpPr>
          <p:cNvPr id="25" name="Text 21"/>
          <p:cNvSpPr/>
          <p:nvPr/>
        </p:nvSpPr>
        <p:spPr>
          <a:xfrm>
            <a:off x="2011680" y="34015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BIMSTEC Population Reached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2011680" y="37856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deployable across Bangladesh, India, Myanmar, Sri Lanka, Thailand, Nepal, Bhutan.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709160" y="8046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INNOVATIONS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709160" y="1234440"/>
            <a:ext cx="4160520" cy="10058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782312" y="1417320"/>
            <a:ext cx="658368" cy="658368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782312" y="1408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🔺</a:t>
            </a:r>
            <a:endParaRPr lang="en-US" sz="2400" dirty="0"/>
          </a:p>
        </p:txBody>
      </p:sp>
      <p:sp>
        <p:nvSpPr>
          <p:cNvPr id="31" name="Text 27"/>
          <p:cNvSpPr/>
          <p:nvPr/>
        </p:nvSpPr>
        <p:spPr>
          <a:xfrm>
            <a:off x="5559552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Triple-Layer Emergency Trigger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559552" y="17099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Shake + Auto Crash Detection ensures no single point of failure in any accident scenario.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4709160" y="2377440"/>
            <a:ext cx="4160520" cy="10058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782312" y="2560320"/>
            <a:ext cx="658368" cy="658368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782312" y="2551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6" name="Text 32"/>
          <p:cNvSpPr/>
          <p:nvPr/>
        </p:nvSpPr>
        <p:spPr>
          <a:xfrm>
            <a:off x="5559552" y="2468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AI Triage Guidance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5559552" y="28529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delivers calm step-by-step CPR &amp; first-aid instructions during high-panic emergencies.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4709160" y="3520440"/>
            <a:ext cx="4160520" cy="100584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4782312" y="3703320"/>
            <a:ext cx="658368" cy="658368"/>
          </a:xfrm>
          <a:prstGeom prst="ellipse">
            <a:avLst/>
          </a:prstGeom>
          <a:solidFill>
            <a:srgbClr val="1A0008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4782312" y="3694176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41" name="Text 37"/>
          <p:cNvSpPr/>
          <p:nvPr/>
        </p:nvSpPr>
        <p:spPr>
          <a:xfrm>
            <a:off x="5559552" y="3611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Seamless Family Auto-Alert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5559552" y="39959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WhatsApp + SMS + live GPS broadcast — zero manual input, works even without network.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274320" y="4498848"/>
            <a:ext cx="8595360" cy="310896"/>
          </a:xfrm>
          <a:prstGeom prst="rect">
            <a:avLst/>
          </a:prstGeom>
          <a:solidFill>
            <a:srgbClr val="120010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274320" y="4498848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E81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ROADSOS BLUEPRINT:  AR Navigation  •  Government Ambulance API  •  Blockchain Incident Logging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3200400" y="-914400"/>
            <a:ext cx="6400800" cy="64008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1828800" y="1828800"/>
            <a:ext cx="4572000" cy="4572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859536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0" y="1719072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2578608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3438144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A1A2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-457200" y="91440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kern="0" spc="1200" dirty="0">
                <a:solidFill>
                  <a:srgbClr val="131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12000" dirty="0"/>
          </a:p>
        </p:txBody>
      </p:sp>
      <p:sp>
        <p:nvSpPr>
          <p:cNvPr id="11" name="Shape 7"/>
          <p:cNvSpPr/>
          <p:nvPr/>
        </p:nvSpPr>
        <p:spPr>
          <a:xfrm>
            <a:off x="3794760" y="137160"/>
            <a:ext cx="1554480" cy="1554480"/>
          </a:xfrm>
          <a:prstGeom prst="ellipse">
            <a:avLst/>
          </a:prstGeom>
          <a:solidFill>
            <a:srgbClr val="180006"/>
          </a:solidFill>
          <a:ln w="25400">
            <a:solidFill>
              <a:srgbClr val="C0143C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087368" y="429768"/>
            <a:ext cx="969264" cy="969264"/>
          </a:xfrm>
          <a:prstGeom prst="ellipse">
            <a:avLst/>
          </a:prstGeom>
          <a:solidFill>
            <a:srgbClr val="C0143C"/>
          </a:solidFill>
          <a:ln w="12700">
            <a:solidFill>
              <a:srgbClr val="E8183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087368" y="411480"/>
            <a:ext cx="969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🚨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8000" dirty="0"/>
          </a:p>
        </p:txBody>
      </p:sp>
      <p:sp>
        <p:nvSpPr>
          <p:cNvPr id="15" name="Text 11"/>
          <p:cNvSpPr/>
          <p:nvPr/>
        </p:nvSpPr>
        <p:spPr>
          <a:xfrm>
            <a:off x="457200" y="26334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5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ROADSOS AI  —  SAFER ROADS, SMARTER RESPONSES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97280" y="309067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"Smart technology that doesn't wait for you to speak — it listens, detects, and responds before it's too late."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3703320"/>
            <a:ext cx="8229600" cy="1051560"/>
          </a:xfrm>
          <a:prstGeom prst="rect">
            <a:avLst/>
          </a:prstGeom>
          <a:solidFill>
            <a:srgbClr val="161620"/>
          </a:solidFill>
          <a:ln w="12700">
            <a:solidFill>
              <a:srgbClr val="2A2A3A"/>
            </a:solidFill>
            <a:prstDash val="solid"/>
          </a:ln>
          <a:effectLst>
            <a:outerShdw blurRad="101600" dist="381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937760" y="3767328"/>
            <a:ext cx="0" cy="914400"/>
          </a:xfrm>
          <a:prstGeom prst="line">
            <a:avLst/>
          </a:prstGeom>
          <a:noFill/>
          <a:ln w="12700">
            <a:solidFill>
              <a:srgbClr val="2A2A3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E81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STAGE-2 READY  |  IIT MADRAS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40080" y="40050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</a:t>
            </a: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Parmar</a:t>
            </a:r>
            <a:r>
              <a:rPr lang="en-US" sz="110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</a:t>
            </a:r>
            <a:r>
              <a:rPr lang="en-US" sz="11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r>
              <a:rPr lang="en-US" sz="110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)</a:t>
            </a: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i="1">
                <a:solidFill>
                  <a:srgbClr val="FF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[hp259369@gmail.com] </a:t>
            </a:r>
            <a:r>
              <a:rPr lang="en-US" sz="100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Mirali </a:t>
            </a: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Sankaliya   </a:t>
            </a:r>
            <a:r>
              <a:rPr lang="en-US" sz="100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(Partner)</a:t>
            </a: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00" i="1">
                <a:solidFill>
                  <a:srgbClr val="FF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[sankaliyamirali2005@gmail</a:t>
            </a:r>
            <a:r>
              <a:rPr lang="en-US" sz="1000" i="1" dirty="0">
                <a:solidFill>
                  <a:srgbClr val="FF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.com]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74920" y="3749040"/>
            <a:ext cx="7498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749040"/>
            <a:ext cx="749808" cy="7498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943600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 the Repository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94360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code to preview live source codes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0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architecture documentation.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943600" y="446227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1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HarshParmar029/RoadSoS-AI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829</Words>
  <Application>Microsoft Office PowerPoint</Application>
  <PresentationFormat>On-screen Show 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RoadSoS AI – Road Safety Hackathon 2026</dc:title>
  <dc:subject>PptxGenJS Presentation</dc:subject>
  <dc:creator>Harsh Parmar</dc:creator>
  <cp:lastModifiedBy>harsh parmar</cp:lastModifiedBy>
  <cp:revision>3</cp:revision>
  <dcterms:created xsi:type="dcterms:W3CDTF">2026-05-29T18:46:35Z</dcterms:created>
  <dcterms:modified xsi:type="dcterms:W3CDTF">2026-05-29T18:53:02Z</dcterms:modified>
</cp:coreProperties>
</file>